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4" r:id="rId1"/>
  </p:sldMasterIdLst>
  <p:notesMasterIdLst>
    <p:notesMasterId r:id="rId55"/>
  </p:notesMasterIdLst>
  <p:sldIdLst>
    <p:sldId id="256" r:id="rId2"/>
    <p:sldId id="415" r:id="rId3"/>
    <p:sldId id="347" r:id="rId4"/>
    <p:sldId id="348" r:id="rId5"/>
    <p:sldId id="349" r:id="rId6"/>
    <p:sldId id="350" r:id="rId7"/>
    <p:sldId id="351" r:id="rId8"/>
    <p:sldId id="352" r:id="rId9"/>
    <p:sldId id="353" r:id="rId10"/>
    <p:sldId id="354" r:id="rId11"/>
    <p:sldId id="355" r:id="rId12"/>
    <p:sldId id="356" r:id="rId13"/>
    <p:sldId id="357" r:id="rId14"/>
    <p:sldId id="358" r:id="rId15"/>
    <p:sldId id="359" r:id="rId16"/>
    <p:sldId id="360" r:id="rId17"/>
    <p:sldId id="361" r:id="rId18"/>
    <p:sldId id="362" r:id="rId19"/>
    <p:sldId id="363" r:id="rId20"/>
    <p:sldId id="364" r:id="rId21"/>
    <p:sldId id="365" r:id="rId22"/>
    <p:sldId id="366" r:id="rId23"/>
    <p:sldId id="367" r:id="rId24"/>
    <p:sldId id="368" r:id="rId25"/>
    <p:sldId id="369" r:id="rId26"/>
    <p:sldId id="370" r:id="rId27"/>
    <p:sldId id="371" r:id="rId28"/>
    <p:sldId id="372" r:id="rId29"/>
    <p:sldId id="373" r:id="rId30"/>
    <p:sldId id="374" r:id="rId31"/>
    <p:sldId id="375" r:id="rId32"/>
    <p:sldId id="376" r:id="rId33"/>
    <p:sldId id="386" r:id="rId34"/>
    <p:sldId id="378" r:id="rId35"/>
    <p:sldId id="388" r:id="rId36"/>
    <p:sldId id="380" r:id="rId37"/>
    <p:sldId id="381" r:id="rId38"/>
    <p:sldId id="382" r:id="rId39"/>
    <p:sldId id="383" r:id="rId40"/>
    <p:sldId id="384" r:id="rId41"/>
    <p:sldId id="385" r:id="rId42"/>
    <p:sldId id="377" r:id="rId43"/>
    <p:sldId id="387" r:id="rId44"/>
    <p:sldId id="379" r:id="rId45"/>
    <p:sldId id="389" r:id="rId46"/>
    <p:sldId id="390" r:id="rId47"/>
    <p:sldId id="391" r:id="rId48"/>
    <p:sldId id="392" r:id="rId49"/>
    <p:sldId id="393" r:id="rId50"/>
    <p:sldId id="394" r:id="rId51"/>
    <p:sldId id="396" r:id="rId52"/>
    <p:sldId id="397" r:id="rId53"/>
    <p:sldId id="398" r:id="rId54"/>
  </p:sldIdLst>
  <p:sldSz cx="9144000" cy="5143500" type="screen16x9"/>
  <p:notesSz cx="6858000" cy="9144000"/>
  <p:embeddedFontLst>
    <p:embeddedFont>
      <p:font typeface="Montserrat" panose="020B0604020202020204" charset="0"/>
      <p:regular r:id="rId56"/>
      <p:bold r:id="rId57"/>
      <p:italic r:id="rId58"/>
      <p:boldItalic r:id="rId59"/>
    </p:embeddedFont>
    <p:embeddedFont>
      <p:font typeface="Vidaloka" panose="020B0604020202020204" charset="0"/>
      <p:regular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BBFDDA-2516-4DC3-9EFE-38ECD65D7FE0}" v="2" dt="2025-06-07T13:00:20.930"/>
  </p1510:revLst>
</p1510:revInfo>
</file>

<file path=ppt/tableStyles.xml><?xml version="1.0" encoding="utf-8"?>
<a:tblStyleLst xmlns:a="http://schemas.openxmlformats.org/drawingml/2006/main" def="{BE8F00C7-31FA-4E9F-B908-F255885C3808}">
  <a:tblStyle styleId="{BE8F00C7-31FA-4E9F-B908-F255885C380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26" autoAdjust="0"/>
    <p:restoredTop sz="89684" autoAdjust="0"/>
  </p:normalViewPr>
  <p:slideViewPr>
    <p:cSldViewPr snapToGrid="0">
      <p:cViewPr varScale="1">
        <p:scale>
          <a:sx n="105" d="100"/>
          <a:sy n="105" d="100"/>
        </p:scale>
        <p:origin x="797"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3.fntdata"/><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1.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5.fntdata"/><Relationship Id="rId65"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040000" y="3377100"/>
            <a:ext cx="7064100" cy="4419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1" name="Google Shape;11;p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 name="Google Shape;12;p2"/>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 name="Google Shape;13;p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 name="Google Shape;14;p2"/>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455"/>
        <p:cNvGrpSpPr/>
        <p:nvPr/>
      </p:nvGrpSpPr>
      <p:grpSpPr>
        <a:xfrm>
          <a:off x="0" y="0"/>
          <a:ext cx="0" cy="0"/>
          <a:chOff x="0" y="0"/>
          <a:chExt cx="0" cy="0"/>
        </a:xfrm>
      </p:grpSpPr>
      <p:cxnSp>
        <p:nvCxnSpPr>
          <p:cNvPr id="456" name="Google Shape;456;p5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7" name="Google Shape;457;p5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458"/>
        <p:cNvGrpSpPr/>
        <p:nvPr/>
      </p:nvGrpSpPr>
      <p:grpSpPr>
        <a:xfrm>
          <a:off x="0" y="0"/>
          <a:ext cx="0" cy="0"/>
          <a:chOff x="0" y="0"/>
          <a:chExt cx="0" cy="0"/>
        </a:xfrm>
      </p:grpSpPr>
      <p:cxnSp>
        <p:nvCxnSpPr>
          <p:cNvPr id="459" name="Google Shape;459;p5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0" name="Google Shape;460;p5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1" name="Google Shape;461;p52"/>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2" name="Google Shape;462;p52"/>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Shape 463"/>
        <p:cNvGrpSpPr/>
        <p:nvPr/>
      </p:nvGrpSpPr>
      <p:grpSpPr>
        <a:xfrm>
          <a:off x="0" y="0"/>
          <a:ext cx="0" cy="0"/>
          <a:chOff x="0" y="0"/>
          <a:chExt cx="0" cy="0"/>
        </a:xfrm>
      </p:grpSpPr>
      <p:cxnSp>
        <p:nvCxnSpPr>
          <p:cNvPr id="464" name="Google Shape;464;p5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5" name="Google Shape;465;p5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6" name="Google Shape;466;p53"/>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Shape 467"/>
        <p:cNvGrpSpPr/>
        <p:nvPr/>
      </p:nvGrpSpPr>
      <p:grpSpPr>
        <a:xfrm>
          <a:off x="0" y="0"/>
          <a:ext cx="0" cy="0"/>
          <a:chOff x="0" y="0"/>
          <a:chExt cx="0" cy="0"/>
        </a:xfrm>
      </p:grpSpPr>
      <p:cxnSp>
        <p:nvCxnSpPr>
          <p:cNvPr id="468" name="Google Shape;468;p5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9" name="Google Shape;469;p5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70" name="Google Shape;470;p5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1" name="Google Shape;471;p5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2" name="Google Shape;472;p54"/>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3" name="Google Shape;473;p54"/>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8" r:id="rId2"/>
    <p:sldLayoutId id="2147483697" r:id="rId3"/>
    <p:sldLayoutId id="2147483698" r:id="rId4"/>
    <p:sldLayoutId id="2147483699" r:id="rId5"/>
    <p:sldLayoutId id="2147483700"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60"/>
          <p:cNvSpPr txBox="1">
            <a:spLocks noGrp="1"/>
          </p:cNvSpPr>
          <p:nvPr>
            <p:ph type="ctrTitle"/>
          </p:nvPr>
        </p:nvSpPr>
        <p:spPr>
          <a:xfrm>
            <a:off x="1039975" y="866275"/>
            <a:ext cx="7064100" cy="315571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br>
              <a:rPr lang="en-US" dirty="0"/>
            </a:br>
            <a:br>
              <a:rPr lang="en-US" dirty="0"/>
            </a:br>
            <a:br>
              <a:rPr lang="en-US" dirty="0"/>
            </a:br>
            <a:br>
              <a:rPr lang="en-US" dirty="0"/>
            </a:br>
            <a:r>
              <a:rPr lang="en-US" dirty="0"/>
              <a:t>QUIZ</a:t>
            </a:r>
            <a:br>
              <a:rPr lang="en-US" dirty="0"/>
            </a:br>
            <a:r>
              <a:rPr lang="en-US" dirty="0"/>
              <a:t>ME</a:t>
            </a:r>
            <a:br>
              <a:rPr lang="en-US" dirty="0"/>
            </a:br>
            <a:r>
              <a:rPr lang="en-US" dirty="0"/>
              <a:t>       BABY💦</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88"/>
                                        </p:tgtEl>
                                        <p:attrNameLst>
                                          <p:attrName>style.visibility</p:attrName>
                                        </p:attrNameLst>
                                      </p:cBhvr>
                                      <p:to>
                                        <p:strVal val="visible"/>
                                      </p:to>
                                    </p:set>
                                    <p:anim calcmode="lin" valueType="num">
                                      <p:cBhvr additive="base">
                                        <p:cTn id="7" dur="1000"/>
                                        <p:tgtEl>
                                          <p:spTgt spid="488"/>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00B72-48A6-F165-3AF5-F5CD507E4844}"/>
              </a:ext>
            </a:extLst>
          </p:cNvPr>
          <p:cNvSpPr>
            <a:spLocks noGrp="1"/>
          </p:cNvSpPr>
          <p:nvPr>
            <p:ph type="ctrTitle"/>
          </p:nvPr>
        </p:nvSpPr>
        <p:spPr/>
        <p:txBody>
          <a:bodyPr/>
          <a:lstStyle/>
          <a:p>
            <a:endParaRPr lang="en-US" dirty="0"/>
          </a:p>
        </p:txBody>
      </p:sp>
      <p:pic>
        <p:nvPicPr>
          <p:cNvPr id="5" name="Picture 4">
            <a:extLst>
              <a:ext uri="{FF2B5EF4-FFF2-40B4-BE49-F238E27FC236}">
                <a16:creationId xmlns:a16="http://schemas.microsoft.com/office/drawing/2014/main" id="{81A57534-2886-6DA3-FE3C-6142DA1C2E01}"/>
              </a:ext>
            </a:extLst>
          </p:cNvPr>
          <p:cNvPicPr>
            <a:picLocks noChangeAspect="1"/>
          </p:cNvPicPr>
          <p:nvPr/>
        </p:nvPicPr>
        <p:blipFill>
          <a:blip r:embed="rId2"/>
          <a:stretch>
            <a:fillRect/>
          </a:stretch>
        </p:blipFill>
        <p:spPr>
          <a:xfrm>
            <a:off x="-96253" y="-110003"/>
            <a:ext cx="9412133" cy="5424523"/>
          </a:xfrm>
          <a:prstGeom prst="rect">
            <a:avLst/>
          </a:prstGeom>
        </p:spPr>
      </p:pic>
    </p:spTree>
    <p:extLst>
      <p:ext uri="{BB962C8B-B14F-4D97-AF65-F5344CB8AC3E}">
        <p14:creationId xmlns:p14="http://schemas.microsoft.com/office/powerpoint/2010/main" val="18483573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B6F5A-814D-BBD6-E08C-EDC920C78A73}"/>
              </a:ext>
            </a:extLst>
          </p:cNvPr>
          <p:cNvSpPr>
            <a:spLocks noGrp="1"/>
          </p:cNvSpPr>
          <p:nvPr>
            <p:ph type="ctrTitle"/>
          </p:nvPr>
        </p:nvSpPr>
        <p:spPr>
          <a:xfrm>
            <a:off x="1039975" y="749395"/>
            <a:ext cx="7064100" cy="3361967"/>
          </a:xfrm>
        </p:spPr>
        <p:txBody>
          <a:bodyPr/>
          <a:lstStyle/>
          <a:p>
            <a:r>
              <a:rPr lang="en-US" sz="3200" u="sng" dirty="0"/>
              <a:t>QUESTION-1</a:t>
            </a:r>
            <a:br>
              <a:rPr lang="en-US" sz="3200" u="sng" dirty="0"/>
            </a:br>
            <a:br>
              <a:rPr lang="en-US" sz="1800" dirty="0"/>
            </a:br>
            <a:r>
              <a:rPr lang="en-US" sz="1800" dirty="0"/>
              <a:t>In 2007, Two people initiated an e-commerce venture X in Bengaluru, India named after the process of exploring a catalog. Their first sale of the venture involved a book titled “Leaving Microsoft to change the World”</a:t>
            </a:r>
            <a:br>
              <a:rPr lang="en-US" sz="1800" dirty="0"/>
            </a:br>
            <a:r>
              <a:rPr lang="en-US" sz="1800" dirty="0"/>
              <a:t>It is the first Indian Company app to cross 50 million downloads on </a:t>
            </a:r>
            <a:r>
              <a:rPr lang="en-US" sz="1800" dirty="0" err="1"/>
              <a:t>playstore</a:t>
            </a:r>
            <a:r>
              <a:rPr lang="en-US" sz="1800" dirty="0"/>
              <a:t> and is one of the most preferred and visited websites in India, receiving over 13 million visitors per day</a:t>
            </a:r>
            <a:br>
              <a:rPr lang="en-US" sz="1800" dirty="0"/>
            </a:br>
            <a:r>
              <a:rPr lang="en-US" sz="1800" dirty="0"/>
              <a:t>Id X.</a:t>
            </a:r>
          </a:p>
        </p:txBody>
      </p:sp>
    </p:spTree>
    <p:extLst>
      <p:ext uri="{BB962C8B-B14F-4D97-AF65-F5344CB8AC3E}">
        <p14:creationId xmlns:p14="http://schemas.microsoft.com/office/powerpoint/2010/main" val="1233941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F72F77F-48D1-269E-BC83-39AC636BD003}"/>
              </a:ext>
            </a:extLst>
          </p:cNvPr>
          <p:cNvPicPr>
            <a:picLocks noChangeAspect="1"/>
          </p:cNvPicPr>
          <p:nvPr/>
        </p:nvPicPr>
        <p:blipFill>
          <a:blip r:embed="rId2"/>
          <a:stretch>
            <a:fillRect/>
          </a:stretch>
        </p:blipFill>
        <p:spPr>
          <a:xfrm>
            <a:off x="2752559" y="283076"/>
            <a:ext cx="3638882" cy="4577347"/>
          </a:xfrm>
          <a:prstGeom prst="rect">
            <a:avLst/>
          </a:prstGeom>
        </p:spPr>
      </p:pic>
    </p:spTree>
    <p:extLst>
      <p:ext uri="{BB962C8B-B14F-4D97-AF65-F5344CB8AC3E}">
        <p14:creationId xmlns:p14="http://schemas.microsoft.com/office/powerpoint/2010/main" val="4194919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AFC21-0491-2AC3-31C6-6D20A84B0A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759C36-7453-9944-D97D-E7A52C743469}"/>
              </a:ext>
            </a:extLst>
          </p:cNvPr>
          <p:cNvSpPr>
            <a:spLocks noGrp="1"/>
          </p:cNvSpPr>
          <p:nvPr>
            <p:ph type="ctrTitle"/>
          </p:nvPr>
        </p:nvSpPr>
        <p:spPr>
          <a:xfrm>
            <a:off x="1039975" y="728770"/>
            <a:ext cx="7064100" cy="3128210"/>
          </a:xfrm>
        </p:spPr>
        <p:txBody>
          <a:bodyPr/>
          <a:lstStyle/>
          <a:p>
            <a:r>
              <a:rPr lang="en-US" sz="3200" u="sng" dirty="0"/>
              <a:t>ANSWER</a:t>
            </a:r>
            <a:br>
              <a:rPr lang="en-US" sz="3200" u="sng" dirty="0"/>
            </a:br>
            <a:br>
              <a:rPr lang="en-US" u="sng" dirty="0"/>
            </a:br>
            <a:r>
              <a:rPr lang="en-US" sz="2800" dirty="0"/>
              <a:t>Flipkart</a:t>
            </a:r>
            <a:br>
              <a:rPr lang="en-US" u="sng" dirty="0"/>
            </a:br>
            <a:endParaRPr lang="en-US" u="sng" dirty="0"/>
          </a:p>
        </p:txBody>
      </p:sp>
      <p:pic>
        <p:nvPicPr>
          <p:cNvPr id="1026" name="Picture 2" descr="flipkart logo transparent vector #39906">
            <a:extLst>
              <a:ext uri="{FF2B5EF4-FFF2-40B4-BE49-F238E27FC236}">
                <a16:creationId xmlns:a16="http://schemas.microsoft.com/office/drawing/2014/main" id="{D68ACB1A-DBF6-5832-FF90-F75A68560B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44529" y="1750165"/>
            <a:ext cx="2165684" cy="16431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0601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A64CE-88EC-606A-7352-C74C740360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4E79F3-BAFB-F570-0051-DEC9E95A746B}"/>
              </a:ext>
            </a:extLst>
          </p:cNvPr>
          <p:cNvSpPr>
            <a:spLocks noGrp="1"/>
          </p:cNvSpPr>
          <p:nvPr>
            <p:ph type="ctrTitle"/>
          </p:nvPr>
        </p:nvSpPr>
        <p:spPr>
          <a:xfrm>
            <a:off x="1039975" y="405635"/>
            <a:ext cx="7064100" cy="4324493"/>
          </a:xfrm>
        </p:spPr>
        <p:txBody>
          <a:bodyPr/>
          <a:lstStyle/>
          <a:p>
            <a:r>
              <a:rPr lang="en-US" sz="3200" u="sng" dirty="0"/>
              <a:t>QUESTION-2</a:t>
            </a:r>
            <a:br>
              <a:rPr lang="en-US" sz="3200" u="sng" dirty="0"/>
            </a:br>
            <a:br>
              <a:rPr lang="en-US" sz="3200" u="sng" dirty="0"/>
            </a:br>
            <a:r>
              <a:rPr lang="en-US" sz="1800" dirty="0"/>
              <a:t>It was renamed X after a type of coffee, because the team working on it were drinking a lot of it. It was designed for interactive television. However, the technology was not ready for it at the time, so X was instead used for web development. The creator of X, was working at Sun Labs, who was working on Set-up box by cleaning C++ and ended up with X, leading the origin.</a:t>
            </a:r>
            <a:br>
              <a:rPr lang="en-US" sz="1800" dirty="0"/>
            </a:br>
            <a:r>
              <a:rPr lang="en-US" sz="1800" dirty="0"/>
              <a:t>Id X.</a:t>
            </a:r>
            <a:br>
              <a:rPr lang="en-US" sz="3200" dirty="0"/>
            </a:br>
            <a:br>
              <a:rPr lang="en-US" sz="3200" dirty="0"/>
            </a:br>
            <a:endParaRPr lang="en-US" sz="3200" dirty="0"/>
          </a:p>
        </p:txBody>
      </p:sp>
    </p:spTree>
    <p:extLst>
      <p:ext uri="{BB962C8B-B14F-4D97-AF65-F5344CB8AC3E}">
        <p14:creationId xmlns:p14="http://schemas.microsoft.com/office/powerpoint/2010/main" val="2609212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5C57E3C-B5AF-7861-C6FF-5A09ADCEA094}"/>
              </a:ext>
            </a:extLst>
          </p:cNvPr>
          <p:cNvPicPr>
            <a:picLocks noChangeAspect="1"/>
          </p:cNvPicPr>
          <p:nvPr/>
        </p:nvPicPr>
        <p:blipFill>
          <a:blip r:embed="rId2"/>
          <a:stretch>
            <a:fillRect/>
          </a:stretch>
        </p:blipFill>
        <p:spPr>
          <a:xfrm>
            <a:off x="2479251" y="292625"/>
            <a:ext cx="4185498" cy="4558250"/>
          </a:xfrm>
          <a:prstGeom prst="rect">
            <a:avLst/>
          </a:prstGeom>
        </p:spPr>
      </p:pic>
    </p:spTree>
    <p:extLst>
      <p:ext uri="{BB962C8B-B14F-4D97-AF65-F5344CB8AC3E}">
        <p14:creationId xmlns:p14="http://schemas.microsoft.com/office/powerpoint/2010/main" val="3194188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0913E-D116-E9BF-1450-91C0C952F771}"/>
              </a:ext>
            </a:extLst>
          </p:cNvPr>
          <p:cNvSpPr>
            <a:spLocks noGrp="1"/>
          </p:cNvSpPr>
          <p:nvPr>
            <p:ph type="ctrTitle"/>
          </p:nvPr>
        </p:nvSpPr>
        <p:spPr>
          <a:xfrm>
            <a:off x="1039975" y="1313161"/>
            <a:ext cx="7064100" cy="1698171"/>
          </a:xfrm>
        </p:spPr>
        <p:txBody>
          <a:bodyPr/>
          <a:lstStyle/>
          <a:p>
            <a:r>
              <a:rPr lang="en-US" sz="3200" u="sng" dirty="0"/>
              <a:t>ANSWER</a:t>
            </a:r>
            <a:br>
              <a:rPr lang="en-US" sz="7200" u="sng" dirty="0"/>
            </a:br>
            <a:br>
              <a:rPr lang="en-US" sz="7200" u="sng" dirty="0"/>
            </a:br>
            <a:r>
              <a:rPr lang="en-US" sz="2800" dirty="0"/>
              <a:t>JAVA</a:t>
            </a:r>
          </a:p>
        </p:txBody>
      </p:sp>
      <p:pic>
        <p:nvPicPr>
          <p:cNvPr id="1032" name="Picture 8" descr="Java Logo">
            <a:extLst>
              <a:ext uri="{FF2B5EF4-FFF2-40B4-BE49-F238E27FC236}">
                <a16:creationId xmlns:a16="http://schemas.microsoft.com/office/drawing/2014/main" id="{0597A46E-3C32-A4FC-A087-53D968E5CF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3897" y="1607961"/>
            <a:ext cx="2509444" cy="19275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3637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F1E35-30EA-A28B-2DEC-55E459251E07}"/>
              </a:ext>
            </a:extLst>
          </p:cNvPr>
          <p:cNvSpPr>
            <a:spLocks noGrp="1"/>
          </p:cNvSpPr>
          <p:nvPr>
            <p:ph type="ctrTitle"/>
          </p:nvPr>
        </p:nvSpPr>
        <p:spPr>
          <a:xfrm>
            <a:off x="1039975" y="1324499"/>
            <a:ext cx="7064100" cy="3275001"/>
          </a:xfrm>
        </p:spPr>
        <p:txBody>
          <a:bodyPr/>
          <a:lstStyle/>
          <a:p>
            <a:r>
              <a:rPr lang="en-US" sz="3200" u="sng" dirty="0"/>
              <a:t>QUESTION 3</a:t>
            </a:r>
            <a:br>
              <a:rPr lang="en-US" sz="3200" u="sng" dirty="0"/>
            </a:br>
            <a:br>
              <a:rPr lang="en-US" sz="1800" dirty="0"/>
            </a:br>
            <a:r>
              <a:rPr lang="en-US" sz="1800" dirty="0"/>
              <a:t>Dennis Fong, better known by his online alias Thresh, is an American businessman and retired professional player of the first-person shooter video games Quake and Doom. Known informally as the first professional gamer, Fong noticed a minor inconvenience for which he came up with a solution that is used by even the non serious gamers, while playing games like Fire Temple.</a:t>
            </a:r>
            <a:br>
              <a:rPr lang="en-US" sz="1800" dirty="0"/>
            </a:br>
            <a:r>
              <a:rPr lang="en-US" sz="1800" dirty="0"/>
              <a:t> Most people need to use the right hand for the mouse for operating a gun or view, so the left hand is used for controlling the avatar's movement. Right hand is the more dexterous hand for most people, and operating the mouse needs more dexterity. This gave rise to a slight problem which was solved by Thresh. What was the inconvenience and the solution coughed up for it?</a:t>
            </a:r>
          </a:p>
        </p:txBody>
      </p:sp>
    </p:spTree>
    <p:extLst>
      <p:ext uri="{BB962C8B-B14F-4D97-AF65-F5344CB8AC3E}">
        <p14:creationId xmlns:p14="http://schemas.microsoft.com/office/powerpoint/2010/main" val="1831909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8036BE2-4F86-CF89-9895-AF772B5E8FB9}"/>
              </a:ext>
            </a:extLst>
          </p:cNvPr>
          <p:cNvPicPr>
            <a:picLocks noChangeAspect="1"/>
          </p:cNvPicPr>
          <p:nvPr/>
        </p:nvPicPr>
        <p:blipFill>
          <a:blip r:embed="rId2"/>
          <a:stretch>
            <a:fillRect/>
          </a:stretch>
        </p:blipFill>
        <p:spPr>
          <a:xfrm>
            <a:off x="2294786" y="265125"/>
            <a:ext cx="4406995" cy="4613250"/>
          </a:xfrm>
          <a:prstGeom prst="rect">
            <a:avLst/>
          </a:prstGeom>
        </p:spPr>
      </p:pic>
    </p:spTree>
    <p:extLst>
      <p:ext uri="{BB962C8B-B14F-4D97-AF65-F5344CB8AC3E}">
        <p14:creationId xmlns:p14="http://schemas.microsoft.com/office/powerpoint/2010/main" val="1497842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E6405-6046-925C-6C0E-A233DF05A4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037205-BCDA-EA83-00B0-49DC097ED834}"/>
              </a:ext>
            </a:extLst>
          </p:cNvPr>
          <p:cNvSpPr>
            <a:spLocks noGrp="1"/>
          </p:cNvSpPr>
          <p:nvPr>
            <p:ph type="ctrTitle"/>
          </p:nvPr>
        </p:nvSpPr>
        <p:spPr>
          <a:xfrm>
            <a:off x="1039975" y="288759"/>
            <a:ext cx="7064100" cy="2014430"/>
          </a:xfrm>
        </p:spPr>
        <p:txBody>
          <a:bodyPr/>
          <a:lstStyle/>
          <a:p>
            <a:r>
              <a:rPr lang="en-US" sz="3200" u="sng" dirty="0"/>
              <a:t>ANSWERS</a:t>
            </a:r>
            <a:br>
              <a:rPr lang="en-US" sz="3200" u="sng" dirty="0"/>
            </a:br>
            <a:br>
              <a:rPr lang="en-US" sz="3200" u="sng" dirty="0"/>
            </a:br>
            <a:br>
              <a:rPr lang="en-US" sz="3200" u="sng" dirty="0"/>
            </a:br>
            <a:r>
              <a:rPr lang="en-US" sz="1800" dirty="0"/>
              <a:t>Using WASD as substitute for arrow keys for movements</a:t>
            </a:r>
          </a:p>
        </p:txBody>
      </p:sp>
      <p:pic>
        <p:nvPicPr>
          <p:cNvPr id="2050" name="Picture 2" descr="BestParts Backlit Keycaps WASD Direction Arrow Keys Replacement for Logitech G813/G815/G913/G915 TKL RGB Mechanical Gaming...">
            <a:extLst>
              <a:ext uri="{FF2B5EF4-FFF2-40B4-BE49-F238E27FC236}">
                <a16:creationId xmlns:a16="http://schemas.microsoft.com/office/drawing/2014/main" id="{1CACE87F-754B-E93E-BAC9-8ED8C0244A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6455" y="2433818"/>
            <a:ext cx="2305623" cy="21038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2145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B857B-76DA-76A5-665D-380FE29992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429608-A0A4-EFA3-D17B-CD443A3D7724}"/>
              </a:ext>
            </a:extLst>
          </p:cNvPr>
          <p:cNvSpPr>
            <a:spLocks noGrp="1"/>
          </p:cNvSpPr>
          <p:nvPr>
            <p:ph type="ctrTitle"/>
          </p:nvPr>
        </p:nvSpPr>
        <p:spPr>
          <a:xfrm>
            <a:off x="1039950" y="362857"/>
            <a:ext cx="7064100" cy="5685779"/>
          </a:xfrm>
        </p:spPr>
        <p:txBody>
          <a:bodyPr/>
          <a:lstStyle/>
          <a:p>
            <a:r>
              <a:rPr lang="en-US" sz="1800" dirty="0"/>
              <a:t>Identify the phone from the specifications</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r>
              <a:rPr lang="en-US" sz="3200" u="sng" dirty="0"/>
              <a:t>QUESTION-4</a:t>
            </a:r>
            <a:br>
              <a:rPr lang="en-US" sz="1800" dirty="0"/>
            </a:br>
            <a:br>
              <a:rPr lang="en-US" sz="1800" dirty="0"/>
            </a:br>
            <a:br>
              <a:rPr lang="en-US" sz="1200" dirty="0"/>
            </a:br>
            <a:r>
              <a:rPr lang="en-US" sz="1200" dirty="0"/>
              <a:t>Release Date- September 2013</a:t>
            </a:r>
            <a:br>
              <a:rPr lang="en-US" sz="1200" dirty="0"/>
            </a:br>
            <a:r>
              <a:rPr lang="en-US" sz="1200" dirty="0"/>
              <a:t>Display - 5″ IPS LCD, Full HD (1920 × 1080), ~441 </a:t>
            </a:r>
            <a:r>
              <a:rPr lang="en-US" sz="1200" dirty="0" err="1"/>
              <a:t>ppi</a:t>
            </a:r>
            <a:br>
              <a:rPr lang="en-US" sz="1200" dirty="0"/>
            </a:br>
            <a:r>
              <a:rPr lang="en-US" sz="1200" dirty="0"/>
              <a:t>Operating System- Android 4.2.1 (Jelly Bean)</a:t>
            </a:r>
            <a:br>
              <a:rPr lang="en-US" sz="1200" dirty="0"/>
            </a:br>
            <a:r>
              <a:rPr lang="en-US" sz="1200" dirty="0"/>
              <a:t>Processor- 1.5 GHz Quad-Core MediaTek MT6589T</a:t>
            </a:r>
            <a:br>
              <a:rPr lang="en-US" sz="1200" dirty="0"/>
            </a:br>
            <a:r>
              <a:rPr lang="en-US" sz="1200" dirty="0"/>
              <a:t>RAM- 1 GB</a:t>
            </a:r>
            <a:br>
              <a:rPr lang="en-US" sz="1200" dirty="0"/>
            </a:br>
            <a:r>
              <a:rPr lang="en-US" sz="1200" dirty="0"/>
              <a:t>Internal Storage- 16 GB</a:t>
            </a:r>
            <a:br>
              <a:rPr lang="en-US" sz="1200" dirty="0"/>
            </a:br>
            <a:r>
              <a:rPr lang="en-US" sz="1200" dirty="0"/>
              <a:t>Expandable Storage- Up to 64 GB via microSD</a:t>
            </a:r>
            <a:br>
              <a:rPr lang="en-US" sz="1200" dirty="0"/>
            </a:br>
            <a:r>
              <a:rPr lang="en-US" sz="1200" dirty="0"/>
              <a:t>Rear Camera- 13 MP Autofocus with LED flash</a:t>
            </a:r>
            <a:br>
              <a:rPr lang="en-US" sz="1200" dirty="0"/>
            </a:br>
            <a:r>
              <a:rPr lang="en-US" sz="1200" dirty="0"/>
              <a:t>Front Camera- 5 MP</a:t>
            </a:r>
            <a:br>
              <a:rPr lang="en-US" sz="1200" dirty="0"/>
            </a:br>
            <a:r>
              <a:rPr lang="en-US" sz="1200" dirty="0"/>
              <a:t>Battery- 3,150 </a:t>
            </a:r>
            <a:r>
              <a:rPr lang="en-US" sz="1200" dirty="0" err="1"/>
              <a:t>mAh</a:t>
            </a:r>
            <a:r>
              <a:rPr lang="en-US" sz="1200" dirty="0"/>
              <a:t> Removable Li-ion</a:t>
            </a:r>
            <a:br>
              <a:rPr lang="en-US" sz="1200" dirty="0"/>
            </a:br>
            <a:r>
              <a:rPr lang="en-US" sz="1200" dirty="0"/>
              <a:t>Connectivity- Dual SIM (GSM/3G), Wi‑Fi, Bluetooth 4.0, GPS, micro-USB 2.0</a:t>
            </a:r>
            <a:br>
              <a:rPr lang="en-US" sz="1200" dirty="0"/>
            </a:br>
            <a:r>
              <a:rPr lang="en-US" sz="1200" dirty="0"/>
              <a:t>Sensors- G-sensor, Light, Proximity, Magnetic</a:t>
            </a:r>
            <a:br>
              <a:rPr lang="en-US" sz="1200" dirty="0"/>
            </a:br>
            <a:r>
              <a:rPr lang="en-US" sz="1200" dirty="0"/>
              <a:t>Dimensions- 142 × 71 × 9.8 mm</a:t>
            </a:r>
            <a:br>
              <a:rPr lang="en-US" sz="1200" dirty="0"/>
            </a:br>
            <a:br>
              <a:rPr lang="en-US" sz="1200" dirty="0"/>
            </a:br>
            <a:r>
              <a:rPr lang="en-US" sz="1800" dirty="0"/>
              <a:t>Identify the phone from the specifications !</a:t>
            </a:r>
            <a:br>
              <a:rPr lang="en-US" sz="1800" dirty="0"/>
            </a:br>
            <a:br>
              <a:rPr lang="en-US" sz="1800" dirty="0"/>
            </a:br>
            <a:r>
              <a:rPr lang="en-US" sz="1800" dirty="0"/>
              <a:t>Hint- Ask for Hint </a:t>
            </a:r>
            <a:r>
              <a:rPr lang="en-US" sz="1800" dirty="0" err="1"/>
              <a:t>LoL</a:t>
            </a:r>
            <a:br>
              <a:rPr lang="en-US" sz="1800" dirty="0"/>
            </a:br>
            <a:br>
              <a:rPr lang="en-US" sz="1800" dirty="0"/>
            </a:br>
            <a:br>
              <a:rPr lang="en-US" sz="1200" dirty="0"/>
            </a:br>
            <a:br>
              <a:rPr lang="en-US" sz="900" dirty="0"/>
            </a:br>
            <a:br>
              <a:rPr lang="en-US" sz="1800" dirty="0"/>
            </a:br>
            <a:endParaRPr lang="en-US" sz="1800" dirty="0"/>
          </a:p>
        </p:txBody>
      </p:sp>
    </p:spTree>
    <p:extLst>
      <p:ext uri="{BB962C8B-B14F-4D97-AF65-F5344CB8AC3E}">
        <p14:creationId xmlns:p14="http://schemas.microsoft.com/office/powerpoint/2010/main" val="4108852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E9E98-3C02-E36F-4B16-2942C29C4EFE}"/>
            </a:ext>
          </a:extLst>
        </p:cNvPr>
        <p:cNvGrpSpPr/>
        <p:nvPr/>
      </p:nvGrpSpPr>
      <p:grpSpPr>
        <a:xfrm>
          <a:off x="0" y="0"/>
          <a:ext cx="0" cy="0"/>
          <a:chOff x="0" y="0"/>
          <a:chExt cx="0" cy="0"/>
        </a:xfrm>
      </p:grpSpPr>
      <p:pic>
        <p:nvPicPr>
          <p:cNvPr id="3074" name="Picture 2" descr="Item preview, Namo Hattrick Text Collection - Celebrating Success and Achievement designed and sold by KumarDesignLab.">
            <a:extLst>
              <a:ext uri="{FF2B5EF4-FFF2-40B4-BE49-F238E27FC236}">
                <a16:creationId xmlns:a16="http://schemas.microsoft.com/office/drawing/2014/main" id="{83A304E6-A1FD-D53F-5AE9-93E1957C3F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8232" y="511628"/>
            <a:ext cx="3687535" cy="41202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35480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07012-86B1-F82F-15DF-B8DE8B009E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95EA30-1089-6261-FF2A-519BF14B4E7C}"/>
              </a:ext>
            </a:extLst>
          </p:cNvPr>
          <p:cNvSpPr>
            <a:spLocks noGrp="1"/>
          </p:cNvSpPr>
          <p:nvPr>
            <p:ph type="ctrTitle"/>
          </p:nvPr>
        </p:nvSpPr>
        <p:spPr>
          <a:xfrm>
            <a:off x="1039975" y="756271"/>
            <a:ext cx="7064100" cy="2660697"/>
          </a:xfrm>
        </p:spPr>
        <p:txBody>
          <a:bodyPr/>
          <a:lstStyle/>
          <a:p>
            <a:r>
              <a:rPr lang="en-US" sz="3200" u="sng" dirty="0"/>
              <a:t>ANSWER</a:t>
            </a:r>
            <a:br>
              <a:rPr lang="en-US" sz="3200" u="sng" dirty="0"/>
            </a:br>
            <a:br>
              <a:rPr lang="en-US" sz="3200" u="sng" dirty="0"/>
            </a:br>
            <a:br>
              <a:rPr lang="en-US" sz="1800" dirty="0"/>
            </a:br>
            <a:r>
              <a:rPr lang="en-US" sz="1800" dirty="0" err="1"/>
              <a:t>NaMo</a:t>
            </a:r>
            <a:r>
              <a:rPr lang="en-US" sz="1800" dirty="0"/>
              <a:t> phone</a:t>
            </a:r>
            <a:br>
              <a:rPr lang="en-US" sz="1800" dirty="0"/>
            </a:br>
            <a:r>
              <a:rPr lang="en-US" sz="1800" dirty="0"/>
              <a:t>(Narendra Modi Phone)</a:t>
            </a:r>
          </a:p>
        </p:txBody>
      </p:sp>
      <p:pic>
        <p:nvPicPr>
          <p:cNvPr id="4098" name="Picture 2" descr="Smart Namo Saffron Two">
            <a:extLst>
              <a:ext uri="{FF2B5EF4-FFF2-40B4-BE49-F238E27FC236}">
                <a16:creationId xmlns:a16="http://schemas.microsoft.com/office/drawing/2014/main" id="{503E2907-EFE6-C15D-E499-A70B00DF21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0996" y="591267"/>
            <a:ext cx="2329190" cy="3416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9385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F3AE3-49E4-3D22-D0DF-32EF2225CC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F14ED7-23F9-9011-3201-0EF62B228374}"/>
              </a:ext>
            </a:extLst>
          </p:cNvPr>
          <p:cNvSpPr>
            <a:spLocks noGrp="1"/>
          </p:cNvSpPr>
          <p:nvPr>
            <p:ph type="ctrTitle"/>
          </p:nvPr>
        </p:nvSpPr>
        <p:spPr>
          <a:xfrm>
            <a:off x="4572000" y="281883"/>
            <a:ext cx="3532075" cy="2674448"/>
          </a:xfrm>
        </p:spPr>
        <p:txBody>
          <a:bodyPr/>
          <a:lstStyle/>
          <a:p>
            <a:br>
              <a:rPr lang="en-US" sz="1800" dirty="0"/>
            </a:br>
            <a:br>
              <a:rPr lang="en-US" sz="1800" dirty="0"/>
            </a:br>
            <a:br>
              <a:rPr lang="en-US" sz="1800" dirty="0"/>
            </a:br>
            <a:br>
              <a:rPr lang="en-US" sz="1800" dirty="0"/>
            </a:br>
            <a:br>
              <a:rPr lang="en-US" sz="3200" dirty="0"/>
            </a:br>
            <a:r>
              <a:rPr lang="en-US" sz="3200" u="sng" dirty="0"/>
              <a:t>QUESTION-5 </a:t>
            </a:r>
            <a:br>
              <a:rPr lang="en-US" sz="1800" u="sng" dirty="0"/>
            </a:br>
            <a:br>
              <a:rPr lang="en-US" sz="1800" u="sng" dirty="0"/>
            </a:br>
            <a:br>
              <a:rPr lang="en-US" sz="1800" u="sng" dirty="0"/>
            </a:br>
            <a:r>
              <a:rPr lang="en-US" sz="1800" dirty="0"/>
              <a:t>X and Y are notably the best friends everyone knew. Well now in recent times, X is accusing Y of him being on the Epstein list.</a:t>
            </a:r>
            <a:br>
              <a:rPr lang="en-US" sz="1800" dirty="0"/>
            </a:br>
            <a:r>
              <a:rPr lang="en-US" sz="1800" dirty="0"/>
              <a:t>Id X and Y. </a:t>
            </a:r>
          </a:p>
        </p:txBody>
      </p:sp>
      <p:pic>
        <p:nvPicPr>
          <p:cNvPr id="10" name="Picture 9">
            <a:extLst>
              <a:ext uri="{FF2B5EF4-FFF2-40B4-BE49-F238E27FC236}">
                <a16:creationId xmlns:a16="http://schemas.microsoft.com/office/drawing/2014/main" id="{6C547BB9-7894-C026-7C38-942708FD0B22}"/>
              </a:ext>
            </a:extLst>
          </p:cNvPr>
          <p:cNvPicPr>
            <a:picLocks noChangeAspect="1"/>
          </p:cNvPicPr>
          <p:nvPr/>
        </p:nvPicPr>
        <p:blipFill>
          <a:blip r:embed="rId2"/>
          <a:stretch>
            <a:fillRect/>
          </a:stretch>
        </p:blipFill>
        <p:spPr>
          <a:xfrm>
            <a:off x="1" y="281883"/>
            <a:ext cx="4434496" cy="2949455"/>
          </a:xfrm>
          <a:prstGeom prst="rect">
            <a:avLst/>
          </a:prstGeom>
        </p:spPr>
      </p:pic>
    </p:spTree>
    <p:extLst>
      <p:ext uri="{BB962C8B-B14F-4D97-AF65-F5344CB8AC3E}">
        <p14:creationId xmlns:p14="http://schemas.microsoft.com/office/powerpoint/2010/main" val="4141010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2B214-0910-0D65-356D-14998E05754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681A316-144A-C30D-3A3A-87F6ACFF2ADD}"/>
              </a:ext>
            </a:extLst>
          </p:cNvPr>
          <p:cNvPicPr>
            <a:picLocks noChangeAspect="1"/>
          </p:cNvPicPr>
          <p:nvPr/>
        </p:nvPicPr>
        <p:blipFill>
          <a:blip r:embed="rId2"/>
          <a:stretch>
            <a:fillRect/>
          </a:stretch>
        </p:blipFill>
        <p:spPr>
          <a:xfrm>
            <a:off x="2215583" y="296062"/>
            <a:ext cx="4712833" cy="4551375"/>
          </a:xfrm>
          <a:prstGeom prst="rect">
            <a:avLst/>
          </a:prstGeom>
        </p:spPr>
      </p:pic>
    </p:spTree>
    <p:extLst>
      <p:ext uri="{BB962C8B-B14F-4D97-AF65-F5344CB8AC3E}">
        <p14:creationId xmlns:p14="http://schemas.microsoft.com/office/powerpoint/2010/main" val="2764550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6D907-ADE2-67E6-9470-2EA0F73D76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263612-A1EC-4988-7B67-DBED6364707D}"/>
              </a:ext>
            </a:extLst>
          </p:cNvPr>
          <p:cNvSpPr>
            <a:spLocks noGrp="1"/>
          </p:cNvSpPr>
          <p:nvPr>
            <p:ph type="ctrTitle"/>
          </p:nvPr>
        </p:nvSpPr>
        <p:spPr/>
        <p:txBody>
          <a:bodyPr/>
          <a:lstStyle/>
          <a:p>
            <a:br>
              <a:rPr lang="en-US" sz="1800" dirty="0"/>
            </a:br>
            <a:br>
              <a:rPr lang="en-US" sz="1800" dirty="0"/>
            </a:br>
            <a:br>
              <a:rPr lang="en-US" sz="1800" dirty="0"/>
            </a:br>
            <a:r>
              <a:rPr lang="en-US" sz="1800" dirty="0"/>
              <a:t>                            </a:t>
            </a:r>
            <a:r>
              <a:rPr lang="en-US" sz="3200" u="sng" dirty="0"/>
              <a:t>ANSWER</a:t>
            </a:r>
            <a:br>
              <a:rPr lang="en-US" sz="1800" dirty="0"/>
            </a:br>
            <a:br>
              <a:rPr lang="en-US" sz="1800" dirty="0"/>
            </a:br>
            <a:br>
              <a:rPr lang="en-US" sz="1800" dirty="0"/>
            </a:br>
            <a:r>
              <a:rPr lang="en-US" sz="1800" dirty="0"/>
              <a:t>                        X- Elon Musk</a:t>
            </a:r>
            <a:br>
              <a:rPr lang="en-US" sz="1800" dirty="0"/>
            </a:br>
            <a:r>
              <a:rPr lang="en-US" sz="1800" dirty="0"/>
              <a:t>                               Y- Donald Trump</a:t>
            </a:r>
          </a:p>
        </p:txBody>
      </p:sp>
      <p:pic>
        <p:nvPicPr>
          <p:cNvPr id="5122" name="Picture 2" descr="Donald Trump and Elon Musk Hugging in Cozy Villa">
            <a:extLst>
              <a:ext uri="{FF2B5EF4-FFF2-40B4-BE49-F238E27FC236}">
                <a16:creationId xmlns:a16="http://schemas.microsoft.com/office/drawing/2014/main" id="{24853107-3C78-3048-0F5C-7DD92D536E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5664" y="1262027"/>
            <a:ext cx="2550694" cy="2828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03129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43671-D705-E3B6-5873-BD158667F8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903960-46FD-98B7-C1BF-E04132652AAB}"/>
              </a:ext>
            </a:extLst>
          </p:cNvPr>
          <p:cNvSpPr>
            <a:spLocks noGrp="1"/>
          </p:cNvSpPr>
          <p:nvPr>
            <p:ph type="ctrTitle"/>
          </p:nvPr>
        </p:nvSpPr>
        <p:spPr>
          <a:xfrm>
            <a:off x="1039950" y="467514"/>
            <a:ext cx="7064100" cy="3588848"/>
          </a:xfrm>
        </p:spPr>
        <p:txBody>
          <a:bodyPr/>
          <a:lstStyle/>
          <a:p>
            <a:br>
              <a:rPr lang="en-US" sz="3200" u="sng" dirty="0"/>
            </a:br>
            <a:br>
              <a:rPr lang="en-US" sz="3200" u="sng" dirty="0"/>
            </a:br>
            <a:br>
              <a:rPr lang="en-US" sz="3200" u="sng" dirty="0"/>
            </a:br>
            <a:br>
              <a:rPr lang="en-US" sz="3200" u="sng" dirty="0"/>
            </a:br>
            <a:br>
              <a:rPr lang="en-US" sz="3200" u="sng" dirty="0"/>
            </a:br>
            <a:r>
              <a:rPr lang="en-US" sz="3200" u="sng" dirty="0"/>
              <a:t>QUESTION-6 </a:t>
            </a:r>
            <a:br>
              <a:rPr lang="en-US" sz="3200" u="sng" dirty="0"/>
            </a:br>
            <a:br>
              <a:rPr lang="en-US" sz="3200" u="sng" dirty="0"/>
            </a:br>
            <a:r>
              <a:rPr lang="en-US" sz="1800" dirty="0">
                <a:solidFill>
                  <a:srgbClr val="FF0000"/>
                </a:solidFill>
              </a:rPr>
              <a:t>La Tomatina </a:t>
            </a:r>
            <a:r>
              <a:rPr lang="en-US" sz="1800" dirty="0"/>
              <a:t>in Spain is a festival celebrated on the last Wednesday of August where the people play with tomatoes. In 2010, 16 tons of tomatoes worth Rs 1 crore were flown in from Portugal but not on the occasion of the festival. The entire town was shut down and residents of Bunol, for their extreme cooperation with the event got a chance to celebrate Tomatina twice in the year 2010, once for Spain and once for India. What Incident X provided the opportunity for the residents of Bunol in Spain to celebrate Tomatina twice in 2010?</a:t>
            </a:r>
          </a:p>
        </p:txBody>
      </p:sp>
    </p:spTree>
    <p:extLst>
      <p:ext uri="{BB962C8B-B14F-4D97-AF65-F5344CB8AC3E}">
        <p14:creationId xmlns:p14="http://schemas.microsoft.com/office/powerpoint/2010/main" val="6757944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5F853-3DF5-5404-0C5A-A502EE8932A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1B5FEC1-B087-80A3-720A-B1B4229D6E6D}"/>
              </a:ext>
            </a:extLst>
          </p:cNvPr>
          <p:cNvPicPr>
            <a:picLocks noChangeAspect="1"/>
          </p:cNvPicPr>
          <p:nvPr/>
        </p:nvPicPr>
        <p:blipFill>
          <a:blip r:embed="rId2"/>
          <a:stretch>
            <a:fillRect/>
          </a:stretch>
        </p:blipFill>
        <p:spPr>
          <a:xfrm>
            <a:off x="2014430" y="272000"/>
            <a:ext cx="5115140" cy="4599500"/>
          </a:xfrm>
          <a:prstGeom prst="rect">
            <a:avLst/>
          </a:prstGeom>
        </p:spPr>
      </p:pic>
    </p:spTree>
    <p:extLst>
      <p:ext uri="{BB962C8B-B14F-4D97-AF65-F5344CB8AC3E}">
        <p14:creationId xmlns:p14="http://schemas.microsoft.com/office/powerpoint/2010/main" val="2331468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32DF3-D24C-31E3-93CF-C94E981162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25DFB0-BA2B-0A91-951D-6F17B2B68541}"/>
              </a:ext>
            </a:extLst>
          </p:cNvPr>
          <p:cNvSpPr>
            <a:spLocks noGrp="1"/>
          </p:cNvSpPr>
          <p:nvPr>
            <p:ph type="ctrTitle"/>
          </p:nvPr>
        </p:nvSpPr>
        <p:spPr>
          <a:xfrm>
            <a:off x="1039975" y="330009"/>
            <a:ext cx="7064100" cy="1395663"/>
          </a:xfrm>
        </p:spPr>
        <p:txBody>
          <a:bodyPr/>
          <a:lstStyle/>
          <a:p>
            <a:br>
              <a:rPr lang="en-US" sz="1800" dirty="0"/>
            </a:br>
            <a:r>
              <a:rPr lang="en-US" sz="3200" u="sng" dirty="0"/>
              <a:t>ANSWER</a:t>
            </a:r>
            <a:br>
              <a:rPr lang="en-US" sz="1800" u="sng" dirty="0"/>
            </a:br>
            <a:br>
              <a:rPr lang="en-US" sz="1800" u="sng" dirty="0"/>
            </a:br>
            <a:br>
              <a:rPr lang="en-US" sz="1800" u="sng" dirty="0"/>
            </a:br>
            <a:r>
              <a:rPr lang="en-US" sz="2000" dirty="0"/>
              <a:t>The filming of Zindagi </a:t>
            </a:r>
            <a:r>
              <a:rPr lang="en-US" sz="2000" dirty="0" err="1"/>
              <a:t>na</a:t>
            </a:r>
            <a:r>
              <a:rPr lang="en-US" sz="2000" dirty="0"/>
              <a:t> </a:t>
            </a:r>
            <a:r>
              <a:rPr lang="en-US" sz="2000" dirty="0" err="1"/>
              <a:t>milegi</a:t>
            </a:r>
            <a:r>
              <a:rPr lang="en-US" sz="2000" dirty="0"/>
              <a:t> Dobara</a:t>
            </a:r>
          </a:p>
        </p:txBody>
      </p:sp>
      <p:pic>
        <p:nvPicPr>
          <p:cNvPr id="6146" name="Picture 2" descr="ZNMD">
            <a:extLst>
              <a:ext uri="{FF2B5EF4-FFF2-40B4-BE49-F238E27FC236}">
                <a16:creationId xmlns:a16="http://schemas.microsoft.com/office/drawing/2014/main" id="{6680FC89-1785-4F1A-566B-CE56C64922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2298" y="1906469"/>
            <a:ext cx="3419403" cy="2404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61321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8CC39-2666-547F-74E2-67A87443B7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B32B9D-9D14-A59A-C833-D345804CD9C2}"/>
              </a:ext>
            </a:extLst>
          </p:cNvPr>
          <p:cNvSpPr>
            <a:spLocks noGrp="1"/>
          </p:cNvSpPr>
          <p:nvPr>
            <p:ph type="ctrTitle"/>
          </p:nvPr>
        </p:nvSpPr>
        <p:spPr>
          <a:xfrm>
            <a:off x="1039975" y="584391"/>
            <a:ext cx="7064100" cy="3485719"/>
          </a:xfrm>
        </p:spPr>
        <p:txBody>
          <a:bodyPr/>
          <a:lstStyle/>
          <a:p>
            <a:r>
              <a:rPr lang="en-US" sz="3200" u="sng" dirty="0"/>
              <a:t>QUESTION-7</a:t>
            </a:r>
            <a:br>
              <a:rPr lang="en-US" sz="1800" u="sng" dirty="0"/>
            </a:br>
            <a:br>
              <a:rPr lang="en-US" sz="1800" u="sng" dirty="0"/>
            </a:br>
            <a:r>
              <a:rPr lang="en-US" sz="1800" dirty="0"/>
              <a:t>In 1959 a horn antenna was built as part of NASA's Project Echo. In 1964, two scientists working on calibrating this antenna to remove interference were unable to identify a source of random </a:t>
            </a:r>
            <a:r>
              <a:rPr lang="en-US" sz="1800" dirty="0" err="1"/>
              <a:t>noise.The</a:t>
            </a:r>
            <a:r>
              <a:rPr lang="en-US" sz="1800" dirty="0"/>
              <a:t> device's design was intended to eliminate noise from the surroundings, but a noise persisted and interference from urban areas, nuclear tests or pigeons living in the antenna were all ruled </a:t>
            </a:r>
            <a:r>
              <a:rPr lang="en-US" sz="1800" dirty="0" err="1"/>
              <a:t>out.After</a:t>
            </a:r>
            <a:r>
              <a:rPr lang="en-US" sz="1800" dirty="0"/>
              <a:t> they figured out what the mysterious hum was, they went on to for the discovery, which confirmed a theory X. they went on to win the Nobel prize for the discovery. Identify the theory X.</a:t>
            </a:r>
          </a:p>
        </p:txBody>
      </p:sp>
    </p:spTree>
    <p:extLst>
      <p:ext uri="{BB962C8B-B14F-4D97-AF65-F5344CB8AC3E}">
        <p14:creationId xmlns:p14="http://schemas.microsoft.com/office/powerpoint/2010/main" val="1738719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816AF-DCC7-EB6E-0C87-6F70EAB39C8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27CD404-8165-C1BB-7BD7-3CC12FAF34FE}"/>
              </a:ext>
            </a:extLst>
          </p:cNvPr>
          <p:cNvPicPr>
            <a:picLocks noChangeAspect="1"/>
          </p:cNvPicPr>
          <p:nvPr/>
        </p:nvPicPr>
        <p:blipFill>
          <a:blip r:embed="rId2"/>
          <a:stretch>
            <a:fillRect/>
          </a:stretch>
        </p:blipFill>
        <p:spPr>
          <a:xfrm>
            <a:off x="2514600" y="268562"/>
            <a:ext cx="4114800" cy="4606376"/>
          </a:xfrm>
          <a:prstGeom prst="rect">
            <a:avLst/>
          </a:prstGeom>
        </p:spPr>
      </p:pic>
    </p:spTree>
    <p:extLst>
      <p:ext uri="{BB962C8B-B14F-4D97-AF65-F5344CB8AC3E}">
        <p14:creationId xmlns:p14="http://schemas.microsoft.com/office/powerpoint/2010/main" val="40231555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ED7F3-73A1-434C-098D-40226B3AE6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5509AC-F66F-0D56-9AD0-269E44E721F9}"/>
              </a:ext>
            </a:extLst>
          </p:cNvPr>
          <p:cNvSpPr>
            <a:spLocks noGrp="1"/>
          </p:cNvSpPr>
          <p:nvPr>
            <p:ph type="ctrTitle"/>
          </p:nvPr>
        </p:nvSpPr>
        <p:spPr/>
        <p:txBody>
          <a:bodyPr/>
          <a:lstStyle/>
          <a:p>
            <a:br>
              <a:rPr lang="en-US" sz="1800" dirty="0"/>
            </a:br>
            <a:r>
              <a:rPr lang="en-US" sz="3200" u="sng" dirty="0"/>
              <a:t>ANSWER</a:t>
            </a:r>
            <a:br>
              <a:rPr lang="en-US" sz="1800" u="sng" dirty="0"/>
            </a:br>
            <a:br>
              <a:rPr lang="en-US" sz="1800" u="sng" dirty="0"/>
            </a:br>
            <a:br>
              <a:rPr lang="en-US" sz="1800" u="sng" dirty="0"/>
            </a:br>
            <a:br>
              <a:rPr lang="en-US" sz="1800" u="sng" dirty="0"/>
            </a:br>
            <a:r>
              <a:rPr lang="en-US" sz="2000" dirty="0"/>
              <a:t>X- Big Bang Theory</a:t>
            </a:r>
          </a:p>
        </p:txBody>
      </p:sp>
      <p:pic>
        <p:nvPicPr>
          <p:cNvPr id="7170" name="Picture 2" descr="Universe Starscape Explosion 3D Illustration Cosmic galaxy explosion in outer space, 3D illustration big bang theory stock pictures, royalty-free photos &amp; images">
            <a:extLst>
              <a:ext uri="{FF2B5EF4-FFF2-40B4-BE49-F238E27FC236}">
                <a16:creationId xmlns:a16="http://schemas.microsoft.com/office/drawing/2014/main" id="{CE3201BB-6E28-F0CB-2F55-5F7B16C668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2103" y="604036"/>
            <a:ext cx="2890014" cy="2682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12357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0A554-2E84-5DE3-295B-E71F69DF72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5B348F-3909-CC90-262A-6E8D526C3F00}"/>
              </a:ext>
            </a:extLst>
          </p:cNvPr>
          <p:cNvSpPr>
            <a:spLocks noGrp="1"/>
          </p:cNvSpPr>
          <p:nvPr>
            <p:ph type="ctrTitle"/>
          </p:nvPr>
        </p:nvSpPr>
        <p:spPr>
          <a:xfrm>
            <a:off x="1039975" y="474388"/>
            <a:ext cx="7064100" cy="3657600"/>
          </a:xfrm>
        </p:spPr>
        <p:txBody>
          <a:bodyPr/>
          <a:lstStyle/>
          <a:p>
            <a:r>
              <a:rPr lang="en-US" sz="3200" u="sng" dirty="0"/>
              <a:t>QUESTION-8</a:t>
            </a:r>
            <a:br>
              <a:rPr lang="en-US" sz="1800" u="sng" dirty="0"/>
            </a:br>
            <a:br>
              <a:rPr lang="en-US" sz="1800" u="sng" dirty="0"/>
            </a:br>
            <a:br>
              <a:rPr lang="en-US" sz="1800" u="sng" dirty="0"/>
            </a:br>
            <a:r>
              <a:rPr lang="en-US" sz="1800" dirty="0"/>
              <a:t>Song X from the movie Y was banned from playing in theatres and OTT. This is because of copyright infringement filed by a popular Kerala-based band </a:t>
            </a:r>
            <a:r>
              <a:rPr lang="en-US" sz="1800" dirty="0" err="1"/>
              <a:t>Thaikkudam</a:t>
            </a:r>
            <a:r>
              <a:rPr lang="en-US" sz="1800" dirty="0"/>
              <a:t> Bridge. The band alleged that there are unavoidable similarities between X and their song titled </a:t>
            </a:r>
            <a:r>
              <a:rPr lang="en-US" sz="1800" dirty="0" err="1"/>
              <a:t>Navrasam</a:t>
            </a:r>
            <a:r>
              <a:rPr lang="en-US" sz="1800" dirty="0"/>
              <a:t>. </a:t>
            </a:r>
            <a:r>
              <a:rPr lang="en-US" sz="1800" dirty="0" err="1"/>
              <a:t>Navrasam</a:t>
            </a:r>
            <a:r>
              <a:rPr lang="en-US" sz="1800" dirty="0"/>
              <a:t> was a tribute to Kerala's popular art form </a:t>
            </a:r>
            <a:r>
              <a:rPr lang="en-US" sz="1800" dirty="0" err="1"/>
              <a:t>Kathakali.Though</a:t>
            </a:r>
            <a:r>
              <a:rPr lang="en-US" sz="1800" dirty="0"/>
              <a:t>, X is not affiliated with the song </a:t>
            </a:r>
            <a:r>
              <a:rPr lang="en-US" sz="1800" dirty="0" err="1"/>
              <a:t>Navrasam</a:t>
            </a:r>
            <a:r>
              <a:rPr lang="en-US" sz="1800" dirty="0"/>
              <a:t>, yet both have the same theme of culture representation and their music almost resembles each other.ID the song X.</a:t>
            </a:r>
          </a:p>
        </p:txBody>
      </p:sp>
    </p:spTree>
    <p:extLst>
      <p:ext uri="{BB962C8B-B14F-4D97-AF65-F5344CB8AC3E}">
        <p14:creationId xmlns:p14="http://schemas.microsoft.com/office/powerpoint/2010/main" val="5633392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C725D-6F56-F89D-8511-92D0E4559B8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86AD267-0C6A-77C1-9CAE-AB0F98934374}"/>
              </a:ext>
            </a:extLst>
          </p:cNvPr>
          <p:cNvPicPr>
            <a:picLocks noChangeAspect="1"/>
          </p:cNvPicPr>
          <p:nvPr/>
        </p:nvPicPr>
        <p:blipFill>
          <a:blip r:embed="rId2"/>
          <a:stretch>
            <a:fillRect/>
          </a:stretch>
        </p:blipFill>
        <p:spPr>
          <a:xfrm>
            <a:off x="1973178" y="241061"/>
            <a:ext cx="5197644" cy="4661378"/>
          </a:xfrm>
          <a:prstGeom prst="rect">
            <a:avLst/>
          </a:prstGeom>
        </p:spPr>
      </p:pic>
    </p:spTree>
    <p:extLst>
      <p:ext uri="{BB962C8B-B14F-4D97-AF65-F5344CB8AC3E}">
        <p14:creationId xmlns:p14="http://schemas.microsoft.com/office/powerpoint/2010/main" val="3628412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0B4C7-020D-0900-2ADE-26A9C3E53F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E6CD9F-CA19-DB99-3C08-6125F2D9FEE7}"/>
              </a:ext>
            </a:extLst>
          </p:cNvPr>
          <p:cNvSpPr>
            <a:spLocks noGrp="1"/>
          </p:cNvSpPr>
          <p:nvPr>
            <p:ph type="ctrTitle"/>
          </p:nvPr>
        </p:nvSpPr>
        <p:spPr>
          <a:xfrm>
            <a:off x="1039950" y="69859"/>
            <a:ext cx="7064100" cy="2052600"/>
          </a:xfrm>
        </p:spPr>
        <p:txBody>
          <a:bodyPr/>
          <a:lstStyle/>
          <a:p>
            <a:r>
              <a:rPr lang="en-US" sz="3200" u="sng" dirty="0"/>
              <a:t>ANSWER</a:t>
            </a:r>
            <a:br>
              <a:rPr lang="en-US" sz="2000" dirty="0"/>
            </a:br>
            <a:br>
              <a:rPr lang="en-US" sz="2000" dirty="0"/>
            </a:br>
            <a:br>
              <a:rPr lang="en-US" sz="2000" dirty="0"/>
            </a:br>
            <a:r>
              <a:rPr lang="en-US" sz="2000" dirty="0"/>
              <a:t>X- Varaha Roopam</a:t>
            </a:r>
            <a:br>
              <a:rPr lang="en-US" sz="2000" dirty="0"/>
            </a:br>
            <a:r>
              <a:rPr lang="en-US" sz="2000" dirty="0"/>
              <a:t>Y- Kantara</a:t>
            </a:r>
          </a:p>
        </p:txBody>
      </p:sp>
      <p:pic>
        <p:nvPicPr>
          <p:cNvPr id="8194" name="Picture 2" descr="r/Kerala - Kerala court lifts ban on ‘Varaha Roopam’ song from Kantara">
            <a:extLst>
              <a:ext uri="{FF2B5EF4-FFF2-40B4-BE49-F238E27FC236}">
                <a16:creationId xmlns:a16="http://schemas.microsoft.com/office/drawing/2014/main" id="{1F2DEF3B-3A29-6D8C-8202-BE4949A0C8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1272" y="2172078"/>
            <a:ext cx="3841455" cy="21490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09812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10699-4578-2C3C-5B0C-070BE3BB8A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269AAC-AB75-FE81-F51F-CF158C27653C}"/>
              </a:ext>
            </a:extLst>
          </p:cNvPr>
          <p:cNvSpPr>
            <a:spLocks noGrp="1"/>
          </p:cNvSpPr>
          <p:nvPr>
            <p:ph type="ctrTitle"/>
          </p:nvPr>
        </p:nvSpPr>
        <p:spPr>
          <a:xfrm>
            <a:off x="1039975" y="962526"/>
            <a:ext cx="7064100" cy="2880704"/>
          </a:xfrm>
        </p:spPr>
        <p:txBody>
          <a:bodyPr/>
          <a:lstStyle/>
          <a:p>
            <a:br>
              <a:rPr lang="en-US" sz="1800" dirty="0"/>
            </a:br>
            <a:r>
              <a:rPr lang="en-US" sz="3200" u="sng" dirty="0"/>
              <a:t>QUESTION-9</a:t>
            </a:r>
            <a:br>
              <a:rPr lang="en-US" sz="3200" u="sng" dirty="0"/>
            </a:br>
            <a:br>
              <a:rPr lang="en-US" sz="1800" u="sng" dirty="0"/>
            </a:br>
            <a:r>
              <a:rPr lang="en-US" sz="1800" dirty="0"/>
              <a:t>In medieval life in Europe, People used measuring units which had very quirky name. X was the unit for measuring wine. X is derived from word ‘botte’ a medieval French and Italian word for boot. In Italy, botte is still used to refer to wine cask. Apart from X as measuring unit, word 'X wine' is used for cheap wine. Also, getting 'wine X ' means getting partner for sexual activity just because partner being excessively drunk. ID X.</a:t>
            </a:r>
          </a:p>
        </p:txBody>
      </p:sp>
    </p:spTree>
    <p:extLst>
      <p:ext uri="{BB962C8B-B14F-4D97-AF65-F5344CB8AC3E}">
        <p14:creationId xmlns:p14="http://schemas.microsoft.com/office/powerpoint/2010/main" val="30676349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A6241-A282-A6BD-9E3B-9BA3CCB5C84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BAA43FC-F274-BDDC-1DAF-581154F58AEE}"/>
              </a:ext>
            </a:extLst>
          </p:cNvPr>
          <p:cNvPicPr>
            <a:picLocks noChangeAspect="1"/>
          </p:cNvPicPr>
          <p:nvPr/>
        </p:nvPicPr>
        <p:blipFill>
          <a:blip r:embed="rId2"/>
          <a:stretch>
            <a:fillRect/>
          </a:stretch>
        </p:blipFill>
        <p:spPr>
          <a:xfrm>
            <a:off x="2664135" y="282312"/>
            <a:ext cx="3815729" cy="4578876"/>
          </a:xfrm>
          <a:prstGeom prst="rect">
            <a:avLst/>
          </a:prstGeom>
        </p:spPr>
      </p:pic>
    </p:spTree>
    <p:extLst>
      <p:ext uri="{BB962C8B-B14F-4D97-AF65-F5344CB8AC3E}">
        <p14:creationId xmlns:p14="http://schemas.microsoft.com/office/powerpoint/2010/main" val="31760849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C72C8-E05E-8CEB-451B-475391F4F1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12A91A-C84D-79D7-AAEE-1D272BB7D634}"/>
              </a:ext>
            </a:extLst>
          </p:cNvPr>
          <p:cNvSpPr>
            <a:spLocks noGrp="1"/>
          </p:cNvSpPr>
          <p:nvPr>
            <p:ph type="ctrTitle"/>
          </p:nvPr>
        </p:nvSpPr>
        <p:spPr>
          <a:xfrm>
            <a:off x="1039975" y="1324499"/>
            <a:ext cx="7064100" cy="1920589"/>
          </a:xfrm>
        </p:spPr>
        <p:txBody>
          <a:bodyPr/>
          <a:lstStyle/>
          <a:p>
            <a:r>
              <a:rPr lang="en-US" sz="3200" u="sng" dirty="0"/>
              <a:t>ANSWER</a:t>
            </a:r>
            <a:br>
              <a:rPr lang="en-US" sz="1800" dirty="0"/>
            </a:br>
            <a:br>
              <a:rPr lang="en-US" sz="1800" dirty="0"/>
            </a:br>
            <a:br>
              <a:rPr lang="en-US" sz="1800" dirty="0"/>
            </a:br>
            <a:br>
              <a:rPr lang="en-US" sz="1800" dirty="0"/>
            </a:br>
            <a:r>
              <a:rPr lang="en-US" sz="2000" dirty="0"/>
              <a:t>X- Butt</a:t>
            </a:r>
          </a:p>
        </p:txBody>
      </p:sp>
    </p:spTree>
    <p:extLst>
      <p:ext uri="{BB962C8B-B14F-4D97-AF65-F5344CB8AC3E}">
        <p14:creationId xmlns:p14="http://schemas.microsoft.com/office/powerpoint/2010/main" val="21548093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A69A3-31A7-3DBA-D0E6-3D6D5631AF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1B6C46-EF85-DA43-DCB5-4359CDEC48D6}"/>
              </a:ext>
            </a:extLst>
          </p:cNvPr>
          <p:cNvSpPr>
            <a:spLocks noGrp="1"/>
          </p:cNvSpPr>
          <p:nvPr>
            <p:ph type="ctrTitle"/>
          </p:nvPr>
        </p:nvSpPr>
        <p:spPr/>
        <p:txBody>
          <a:bodyPr/>
          <a:lstStyle/>
          <a:p>
            <a:r>
              <a:rPr lang="en-US" sz="3200" u="sng" dirty="0"/>
              <a:t>QUESTION-10</a:t>
            </a:r>
            <a:br>
              <a:rPr lang="en-US" sz="3200" u="sng" dirty="0"/>
            </a:br>
            <a:br>
              <a:rPr lang="en-US" sz="3200" u="sng" dirty="0"/>
            </a:br>
            <a:br>
              <a:rPr lang="en-US" sz="3200" u="sng" dirty="0"/>
            </a:br>
            <a:r>
              <a:rPr lang="en-US" sz="1800" dirty="0"/>
              <a:t>Following the previous question, in medieval era, people used weight of</a:t>
            </a:r>
            <a:r>
              <a:rPr lang="en-US" sz="1800" dirty="0">
                <a:solidFill>
                  <a:srgbClr val="FF0000"/>
                </a:solidFill>
              </a:rPr>
              <a:t> man </a:t>
            </a:r>
            <a:r>
              <a:rPr lang="en-US" sz="1800" dirty="0"/>
              <a:t>for measurement of weights. Names of </a:t>
            </a:r>
            <a:r>
              <a:rPr lang="en-US" sz="1800" dirty="0" err="1"/>
              <a:t>of</a:t>
            </a:r>
            <a:r>
              <a:rPr lang="en-US" sz="1800" dirty="0"/>
              <a:t> such units varied from place to place. Some regions used name 'man' while some used Y. Measurement of Y varied from place to place but for modern world people, it is always equal to justice in fictional City. ID Y.</a:t>
            </a:r>
          </a:p>
        </p:txBody>
      </p:sp>
    </p:spTree>
    <p:extLst>
      <p:ext uri="{BB962C8B-B14F-4D97-AF65-F5344CB8AC3E}">
        <p14:creationId xmlns:p14="http://schemas.microsoft.com/office/powerpoint/2010/main" val="8683066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11E0C-EDED-439B-540F-D1A60C09DF0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3F1F026-1486-A3FE-EBAE-E3BBFAC0E17B}"/>
              </a:ext>
            </a:extLst>
          </p:cNvPr>
          <p:cNvPicPr>
            <a:picLocks noChangeAspect="1"/>
          </p:cNvPicPr>
          <p:nvPr/>
        </p:nvPicPr>
        <p:blipFill>
          <a:blip r:embed="rId2"/>
          <a:stretch>
            <a:fillRect/>
          </a:stretch>
        </p:blipFill>
        <p:spPr>
          <a:xfrm>
            <a:off x="2759720" y="268562"/>
            <a:ext cx="3624560" cy="4606376"/>
          </a:xfrm>
          <a:prstGeom prst="rect">
            <a:avLst/>
          </a:prstGeom>
        </p:spPr>
      </p:pic>
    </p:spTree>
    <p:extLst>
      <p:ext uri="{BB962C8B-B14F-4D97-AF65-F5344CB8AC3E}">
        <p14:creationId xmlns:p14="http://schemas.microsoft.com/office/powerpoint/2010/main" val="11974689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F8CC8-47B6-ADC0-07C8-014A9D1788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E6078B-7ADD-00DB-2B12-5161B3DE0CD9}"/>
              </a:ext>
            </a:extLst>
          </p:cNvPr>
          <p:cNvSpPr>
            <a:spLocks noGrp="1"/>
          </p:cNvSpPr>
          <p:nvPr>
            <p:ph type="ctrTitle"/>
          </p:nvPr>
        </p:nvSpPr>
        <p:spPr>
          <a:xfrm>
            <a:off x="1039975" y="1526292"/>
            <a:ext cx="7064100" cy="1320036"/>
          </a:xfrm>
        </p:spPr>
        <p:txBody>
          <a:bodyPr/>
          <a:lstStyle/>
          <a:p>
            <a:r>
              <a:rPr lang="en-US" sz="3200" u="sng" dirty="0"/>
              <a:t>ANSWER</a:t>
            </a:r>
            <a:r>
              <a:rPr lang="en-US" sz="2000" u="sng" dirty="0"/>
              <a:t> </a:t>
            </a:r>
            <a:br>
              <a:rPr lang="en-US" sz="2000" u="sng" dirty="0"/>
            </a:br>
            <a:br>
              <a:rPr lang="en-US" sz="2000" u="sng" dirty="0"/>
            </a:br>
            <a:br>
              <a:rPr lang="en-US" sz="2000" u="sng" dirty="0"/>
            </a:br>
            <a:r>
              <a:rPr lang="en-US" sz="2000" dirty="0"/>
              <a:t>Y-Batman</a:t>
            </a:r>
          </a:p>
        </p:txBody>
      </p:sp>
      <p:pic>
        <p:nvPicPr>
          <p:cNvPr id="10242" name="Picture 2" descr="Robert Pattinson, Bruce Wayne, Realistic Portrait, 1920x1920 HD Phone">
            <a:extLst>
              <a:ext uri="{FF2B5EF4-FFF2-40B4-BE49-F238E27FC236}">
                <a16:creationId xmlns:a16="http://schemas.microsoft.com/office/drawing/2014/main" id="{24BABF9B-2EEF-C75A-0805-79B60D4A12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6335" y="1333787"/>
            <a:ext cx="2704384" cy="26400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98700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A0E61-5CF7-CC6D-96F4-2A769D44CB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E1A656-0C57-FEF8-450A-DF54D77774BD}"/>
              </a:ext>
            </a:extLst>
          </p:cNvPr>
          <p:cNvSpPr>
            <a:spLocks noGrp="1"/>
          </p:cNvSpPr>
          <p:nvPr>
            <p:ph type="ctrTitle"/>
          </p:nvPr>
        </p:nvSpPr>
        <p:spPr>
          <a:xfrm>
            <a:off x="1039975" y="316259"/>
            <a:ext cx="4467051" cy="4090735"/>
          </a:xfrm>
        </p:spPr>
        <p:txBody>
          <a:bodyPr/>
          <a:lstStyle/>
          <a:p>
            <a:r>
              <a:rPr lang="en-US" sz="3200" u="sng" dirty="0"/>
              <a:t>Question- 11</a:t>
            </a:r>
            <a:br>
              <a:rPr lang="en-US" sz="3200" u="sng" dirty="0"/>
            </a:br>
            <a:br>
              <a:rPr lang="en-US" sz="1800" dirty="0"/>
            </a:br>
            <a:r>
              <a:rPr lang="en-US" sz="1800" dirty="0"/>
              <a:t>Here is the flat structure of a chemical molecule, </a:t>
            </a:r>
            <a:r>
              <a:rPr lang="en-US" sz="1800" dirty="0" err="1"/>
              <a:t>synthesised</a:t>
            </a:r>
            <a:r>
              <a:rPr lang="en-US" sz="1800" dirty="0"/>
              <a:t> in the late 1960s, and named X after the structure's look, and a famous event happening in the world and beyond. Another very apt connection is the specific number of carbon on which the -OH group is present. What is X ? Also, which numbered carbon atom is the -OH present on?</a:t>
            </a:r>
          </a:p>
        </p:txBody>
      </p:sp>
      <p:pic>
        <p:nvPicPr>
          <p:cNvPr id="4" name="Picture 3">
            <a:extLst>
              <a:ext uri="{FF2B5EF4-FFF2-40B4-BE49-F238E27FC236}">
                <a16:creationId xmlns:a16="http://schemas.microsoft.com/office/drawing/2014/main" id="{6FDF3ECF-697D-BB60-5479-F5E57008B790}"/>
              </a:ext>
            </a:extLst>
          </p:cNvPr>
          <p:cNvPicPr>
            <a:picLocks noChangeAspect="1"/>
          </p:cNvPicPr>
          <p:nvPr/>
        </p:nvPicPr>
        <p:blipFill>
          <a:blip r:embed="rId2"/>
          <a:stretch>
            <a:fillRect/>
          </a:stretch>
        </p:blipFill>
        <p:spPr>
          <a:xfrm>
            <a:off x="5995164" y="1127521"/>
            <a:ext cx="1457528" cy="2695951"/>
          </a:xfrm>
          <a:prstGeom prst="rect">
            <a:avLst/>
          </a:prstGeom>
        </p:spPr>
      </p:pic>
    </p:spTree>
    <p:extLst>
      <p:ext uri="{BB962C8B-B14F-4D97-AF65-F5344CB8AC3E}">
        <p14:creationId xmlns:p14="http://schemas.microsoft.com/office/powerpoint/2010/main" val="6931881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9F929-399F-595A-1596-CF6A503AE11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E467CBF-ECCE-130F-8785-22F4BA26DE4E}"/>
              </a:ext>
            </a:extLst>
          </p:cNvPr>
          <p:cNvPicPr>
            <a:picLocks noChangeAspect="1"/>
          </p:cNvPicPr>
          <p:nvPr/>
        </p:nvPicPr>
        <p:blipFill>
          <a:blip r:embed="rId2"/>
          <a:stretch>
            <a:fillRect/>
          </a:stretch>
        </p:blipFill>
        <p:spPr>
          <a:xfrm>
            <a:off x="1890677" y="282312"/>
            <a:ext cx="5362646" cy="4578875"/>
          </a:xfrm>
          <a:prstGeom prst="rect">
            <a:avLst/>
          </a:prstGeom>
        </p:spPr>
      </p:pic>
    </p:spTree>
    <p:extLst>
      <p:ext uri="{BB962C8B-B14F-4D97-AF65-F5344CB8AC3E}">
        <p14:creationId xmlns:p14="http://schemas.microsoft.com/office/powerpoint/2010/main" val="30774620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1054E-A7FC-9E83-DE4C-7ED91E21D0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27F51A-0588-7BF9-94BB-2248AC4260D9}"/>
              </a:ext>
            </a:extLst>
          </p:cNvPr>
          <p:cNvSpPr>
            <a:spLocks noGrp="1"/>
          </p:cNvSpPr>
          <p:nvPr>
            <p:ph type="ctrTitle"/>
          </p:nvPr>
        </p:nvSpPr>
        <p:spPr>
          <a:xfrm>
            <a:off x="1039975" y="522514"/>
            <a:ext cx="7064100" cy="1938803"/>
          </a:xfrm>
        </p:spPr>
        <p:txBody>
          <a:bodyPr/>
          <a:lstStyle/>
          <a:p>
            <a:r>
              <a:rPr lang="en-US" sz="3200" u="sng" dirty="0"/>
              <a:t>ANSWER</a:t>
            </a:r>
            <a:br>
              <a:rPr lang="en-US" sz="3200" u="sng" dirty="0"/>
            </a:br>
            <a:br>
              <a:rPr lang="en-US" sz="3200" u="sng" dirty="0"/>
            </a:br>
            <a:r>
              <a:rPr lang="en-US" sz="1800" dirty="0" err="1"/>
              <a:t>Apolloane</a:t>
            </a:r>
            <a:r>
              <a:rPr lang="en-US" sz="1800" dirty="0"/>
              <a:t>, named after resemblance to rockets and Apollo moon landings</a:t>
            </a:r>
            <a:br>
              <a:rPr lang="en-US" sz="1800" dirty="0"/>
            </a:br>
            <a:r>
              <a:rPr lang="en-US" sz="1800" dirty="0"/>
              <a:t>The –OH group is placed on carbon 11 to get apolloane-11-ol, referring to Apollo 11</a:t>
            </a:r>
            <a:endParaRPr lang="en-US" sz="3200" dirty="0"/>
          </a:p>
        </p:txBody>
      </p:sp>
      <p:pic>
        <p:nvPicPr>
          <p:cNvPr id="11266" name="Picture 2" descr="Liftoff, Kennedy Space Center, 1969">
            <a:extLst>
              <a:ext uri="{FF2B5EF4-FFF2-40B4-BE49-F238E27FC236}">
                <a16:creationId xmlns:a16="http://schemas.microsoft.com/office/drawing/2014/main" id="{97B3F51F-FEB5-B7B8-4593-7851A2307E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5149" y="2275687"/>
            <a:ext cx="1485040" cy="23452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14743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24E2C-951E-2D7A-9C57-5CBF4BCA5B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772513-0CE2-646E-0DFE-6FE8A694B024}"/>
              </a:ext>
            </a:extLst>
          </p:cNvPr>
          <p:cNvSpPr>
            <a:spLocks noGrp="1"/>
          </p:cNvSpPr>
          <p:nvPr>
            <p:ph type="ctrTitle"/>
          </p:nvPr>
        </p:nvSpPr>
        <p:spPr>
          <a:xfrm>
            <a:off x="1039975" y="1324500"/>
            <a:ext cx="7064100" cy="2841864"/>
          </a:xfrm>
        </p:spPr>
        <p:txBody>
          <a:bodyPr/>
          <a:lstStyle/>
          <a:p>
            <a:r>
              <a:rPr lang="en-US" sz="3200" u="sng" dirty="0"/>
              <a:t>QUESTION-12</a:t>
            </a:r>
            <a:br>
              <a:rPr lang="en-US" sz="1800" u="sng" dirty="0"/>
            </a:br>
            <a:br>
              <a:rPr lang="en-US" sz="1800" u="sng" dirty="0"/>
            </a:br>
            <a:br>
              <a:rPr lang="en-US" sz="1800" u="sng" dirty="0"/>
            </a:br>
            <a:r>
              <a:rPr lang="en-US" sz="1800" dirty="0"/>
              <a:t>The song has given the artist their first Brit award, the equivalent of a Grammy. It has been used in a few television series, of which in the series X, the song has been used to represent the emotional struggles of a character. The artist of the song is said to be selective about giving permission for her songs, but she is a fan of the series, thus the permission. The song's original name had to be changed because it has to be played in religious countries. The artist thought that this idea of changing the title seemed ridiculous as it was a big part of the song's identity.</a:t>
            </a:r>
            <a:br>
              <a:rPr lang="en-US" sz="1800" dirty="0"/>
            </a:br>
            <a:r>
              <a:rPr lang="en-US" sz="1800" dirty="0"/>
              <a:t>Identify the song and series X.</a:t>
            </a:r>
          </a:p>
        </p:txBody>
      </p:sp>
    </p:spTree>
    <p:extLst>
      <p:ext uri="{BB962C8B-B14F-4D97-AF65-F5344CB8AC3E}">
        <p14:creationId xmlns:p14="http://schemas.microsoft.com/office/powerpoint/2010/main" val="266627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25E2B-4698-14D2-0494-67CCFE62411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476DE56-E171-FBA9-D956-EC3F0C6E3AC4}"/>
              </a:ext>
            </a:extLst>
          </p:cNvPr>
          <p:cNvPicPr>
            <a:picLocks noChangeAspect="1"/>
          </p:cNvPicPr>
          <p:nvPr/>
        </p:nvPicPr>
        <p:blipFill>
          <a:blip r:embed="rId2"/>
          <a:stretch>
            <a:fillRect/>
          </a:stretch>
        </p:blipFill>
        <p:spPr>
          <a:xfrm>
            <a:off x="1715789" y="228074"/>
            <a:ext cx="5712422" cy="4585751"/>
          </a:xfrm>
          <a:prstGeom prst="rect">
            <a:avLst/>
          </a:prstGeom>
        </p:spPr>
      </p:pic>
    </p:spTree>
    <p:extLst>
      <p:ext uri="{BB962C8B-B14F-4D97-AF65-F5344CB8AC3E}">
        <p14:creationId xmlns:p14="http://schemas.microsoft.com/office/powerpoint/2010/main" val="32340485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C1B8C-5D00-10B2-D5BC-E2DDD6F08D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A37392-AC33-7533-4EEA-580E13CCBF03}"/>
              </a:ext>
            </a:extLst>
          </p:cNvPr>
          <p:cNvSpPr>
            <a:spLocks noGrp="1"/>
          </p:cNvSpPr>
          <p:nvPr>
            <p:ph type="ctrTitle"/>
          </p:nvPr>
        </p:nvSpPr>
        <p:spPr/>
        <p:txBody>
          <a:bodyPr/>
          <a:lstStyle/>
          <a:p>
            <a:r>
              <a:rPr lang="en-US" sz="3200" u="sng" dirty="0"/>
              <a:t>ANSWER</a:t>
            </a:r>
            <a:br>
              <a:rPr lang="en-US" sz="3200" u="sng" dirty="0"/>
            </a:br>
            <a:br>
              <a:rPr lang="en-US" sz="3200" u="sng" dirty="0"/>
            </a:br>
            <a:r>
              <a:rPr lang="en-US" sz="1800" dirty="0"/>
              <a:t>Song- Running up that hill (A deal with god)</a:t>
            </a:r>
            <a:br>
              <a:rPr lang="en-US" sz="1800" dirty="0"/>
            </a:br>
            <a:r>
              <a:rPr lang="en-US" sz="1800" dirty="0"/>
              <a:t>X- Stranger things</a:t>
            </a:r>
          </a:p>
        </p:txBody>
      </p:sp>
      <p:pic>
        <p:nvPicPr>
          <p:cNvPr id="12290" name="Picture 2" descr="Poster Stranger Things - Horror">
            <a:extLst>
              <a:ext uri="{FF2B5EF4-FFF2-40B4-BE49-F238E27FC236}">
                <a16:creationId xmlns:a16="http://schemas.microsoft.com/office/drawing/2014/main" id="{77BB388E-0B95-B8C7-770E-393D60E3C5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467" y="1189408"/>
            <a:ext cx="1691941" cy="25231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8623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96D99-0687-9695-AA83-DE279ABB80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1FFC5D-6DBA-7E22-0DF8-F61F0AA8EF38}"/>
              </a:ext>
            </a:extLst>
          </p:cNvPr>
          <p:cNvSpPr>
            <a:spLocks noGrp="1"/>
          </p:cNvSpPr>
          <p:nvPr>
            <p:ph type="ctrTitle"/>
          </p:nvPr>
        </p:nvSpPr>
        <p:spPr>
          <a:xfrm>
            <a:off x="1039975" y="1324499"/>
            <a:ext cx="7064100" cy="2779987"/>
          </a:xfrm>
        </p:spPr>
        <p:txBody>
          <a:bodyPr/>
          <a:lstStyle/>
          <a:p>
            <a:r>
              <a:rPr lang="en-US" sz="3200" u="sng" dirty="0"/>
              <a:t>QUESTION-13</a:t>
            </a:r>
            <a:br>
              <a:rPr lang="en-US" sz="1800" u="sng" dirty="0"/>
            </a:br>
            <a:br>
              <a:rPr lang="en-US" sz="1800" u="sng" dirty="0"/>
            </a:br>
            <a:r>
              <a:rPr lang="en-US" sz="1800" dirty="0"/>
              <a:t>This 24 crore ‘item’ X that played an important role during the 2010 commonwealth games, was first offered to DRDO after the end of the games, the DRDO rejected the gift stating that it had no use of it. At last, it was bought by the Goa government for the </a:t>
            </a:r>
            <a:r>
              <a:rPr lang="en-US" sz="1800" dirty="0" err="1"/>
              <a:t>Lusofonia</a:t>
            </a:r>
            <a:r>
              <a:rPr lang="en-US" sz="1800" dirty="0"/>
              <a:t> Games in November that saw participation of 12 Portuguese-speaking countries. It was sold at a token amount of rs.1 as the Ministry of Youth Affairs and Sports cannot charge anything from a government agency.</a:t>
            </a:r>
            <a:br>
              <a:rPr lang="en-US" sz="1800" dirty="0"/>
            </a:br>
            <a:r>
              <a:rPr lang="en-US" sz="1800" dirty="0"/>
              <a:t>Identify X.</a:t>
            </a:r>
          </a:p>
        </p:txBody>
      </p:sp>
    </p:spTree>
    <p:extLst>
      <p:ext uri="{BB962C8B-B14F-4D97-AF65-F5344CB8AC3E}">
        <p14:creationId xmlns:p14="http://schemas.microsoft.com/office/powerpoint/2010/main" val="33183280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62209-31F3-9B7C-955F-19581FA3CE8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70D9269-1B0F-2F19-F404-ECD4A442C3F5}"/>
              </a:ext>
            </a:extLst>
          </p:cNvPr>
          <p:cNvPicPr>
            <a:picLocks noChangeAspect="1"/>
          </p:cNvPicPr>
          <p:nvPr/>
        </p:nvPicPr>
        <p:blipFill>
          <a:blip r:embed="rId2"/>
          <a:stretch>
            <a:fillRect/>
          </a:stretch>
        </p:blipFill>
        <p:spPr>
          <a:xfrm>
            <a:off x="1560422" y="265124"/>
            <a:ext cx="6023155" cy="4613252"/>
          </a:xfrm>
          <a:prstGeom prst="rect">
            <a:avLst/>
          </a:prstGeom>
        </p:spPr>
      </p:pic>
    </p:spTree>
    <p:extLst>
      <p:ext uri="{BB962C8B-B14F-4D97-AF65-F5344CB8AC3E}">
        <p14:creationId xmlns:p14="http://schemas.microsoft.com/office/powerpoint/2010/main" val="38375682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4BB2D-B85E-E422-1A37-D2D24F6981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914D67-62CD-4BFB-3BDC-A8569C719931}"/>
              </a:ext>
            </a:extLst>
          </p:cNvPr>
          <p:cNvSpPr>
            <a:spLocks noGrp="1"/>
          </p:cNvSpPr>
          <p:nvPr>
            <p:ph type="ctrTitle"/>
          </p:nvPr>
        </p:nvSpPr>
        <p:spPr>
          <a:xfrm>
            <a:off x="1039975" y="687520"/>
            <a:ext cx="7064100" cy="1051904"/>
          </a:xfrm>
        </p:spPr>
        <p:txBody>
          <a:bodyPr/>
          <a:lstStyle/>
          <a:p>
            <a:br>
              <a:rPr lang="en-US" sz="3200" u="sng" dirty="0"/>
            </a:br>
            <a:r>
              <a:rPr lang="en-US" sz="3200" u="sng" dirty="0"/>
              <a:t>ANSWER</a:t>
            </a:r>
            <a:br>
              <a:rPr lang="en-US" sz="3200" u="sng" dirty="0"/>
            </a:br>
            <a:br>
              <a:rPr lang="en-US" sz="3200" u="sng" dirty="0"/>
            </a:br>
            <a:r>
              <a:rPr lang="en-US" sz="1800" dirty="0"/>
              <a:t>The Aerostat used in  opening and closing ceremony</a:t>
            </a:r>
          </a:p>
        </p:txBody>
      </p:sp>
      <p:pic>
        <p:nvPicPr>
          <p:cNvPr id="13316" name="Picture 4">
            <a:extLst>
              <a:ext uri="{FF2B5EF4-FFF2-40B4-BE49-F238E27FC236}">
                <a16:creationId xmlns:a16="http://schemas.microsoft.com/office/drawing/2014/main" id="{1DD2B72F-D6D8-33CF-866E-765AA7274E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2901" y="1914359"/>
            <a:ext cx="3858197" cy="24819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84136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C379A-1C14-1000-6385-F37635CE2C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59B1E0-D1F5-3010-13A7-3CDF86DA1091}"/>
              </a:ext>
            </a:extLst>
          </p:cNvPr>
          <p:cNvSpPr>
            <a:spLocks noGrp="1"/>
          </p:cNvSpPr>
          <p:nvPr>
            <p:ph type="ctrTitle"/>
          </p:nvPr>
        </p:nvSpPr>
        <p:spPr>
          <a:xfrm>
            <a:off x="1039975" y="440013"/>
            <a:ext cx="7064100" cy="3836354"/>
          </a:xfrm>
        </p:spPr>
        <p:txBody>
          <a:bodyPr/>
          <a:lstStyle/>
          <a:p>
            <a:br>
              <a:rPr lang="en-US" sz="1100" u="sng" dirty="0"/>
            </a:br>
            <a:br>
              <a:rPr lang="en-US" sz="1100" u="sng" dirty="0"/>
            </a:br>
            <a:br>
              <a:rPr lang="en-US" sz="1100" u="sng" dirty="0"/>
            </a:br>
            <a:br>
              <a:rPr lang="en-US" sz="1100" u="sng" dirty="0"/>
            </a:br>
            <a:br>
              <a:rPr lang="en-US" sz="1100" u="sng" dirty="0"/>
            </a:br>
            <a:br>
              <a:rPr lang="en-US" sz="1100" u="sng" dirty="0"/>
            </a:br>
            <a:br>
              <a:rPr lang="en-US" sz="1100" u="sng" dirty="0"/>
            </a:br>
            <a:br>
              <a:rPr lang="en-US" sz="1100" u="sng" dirty="0"/>
            </a:br>
            <a:br>
              <a:rPr lang="en-US" sz="1100" u="sng" dirty="0"/>
            </a:br>
            <a:br>
              <a:rPr lang="en-US" sz="1100" u="sng" dirty="0"/>
            </a:br>
            <a:br>
              <a:rPr lang="en-US" sz="1100" u="sng" dirty="0"/>
            </a:br>
            <a:br>
              <a:rPr lang="en-US" sz="1100" u="sng" dirty="0"/>
            </a:br>
            <a:br>
              <a:rPr lang="en-US" sz="1100" u="sng" dirty="0"/>
            </a:br>
            <a:br>
              <a:rPr lang="en-US" sz="1100" u="sng" dirty="0"/>
            </a:br>
            <a:br>
              <a:rPr lang="en-US" sz="1100" u="sng" dirty="0"/>
            </a:br>
            <a:br>
              <a:rPr lang="en-US" sz="1100" u="sng" dirty="0"/>
            </a:br>
            <a:br>
              <a:rPr lang="en-US" sz="1100" u="sng" dirty="0"/>
            </a:br>
            <a:br>
              <a:rPr lang="en-US" sz="1100" u="sng" dirty="0"/>
            </a:br>
            <a:br>
              <a:rPr lang="en-US" sz="1100" u="sng" dirty="0"/>
            </a:br>
            <a:br>
              <a:rPr lang="en-US" sz="1100" u="sng" dirty="0"/>
            </a:br>
            <a:br>
              <a:rPr lang="en-US" sz="1100" u="sng" dirty="0"/>
            </a:br>
            <a:br>
              <a:rPr lang="en-US" sz="1100" u="sng" dirty="0"/>
            </a:br>
            <a:br>
              <a:rPr lang="en-US" sz="1100" u="sng" dirty="0"/>
            </a:br>
            <a:br>
              <a:rPr lang="en-US" sz="1100" u="sng" dirty="0"/>
            </a:br>
            <a:br>
              <a:rPr lang="en-US" sz="1100" u="sng" dirty="0"/>
            </a:br>
            <a:br>
              <a:rPr lang="en-US" sz="1100" u="sng" dirty="0"/>
            </a:br>
            <a:br>
              <a:rPr lang="en-US" sz="1100" u="sng" dirty="0"/>
            </a:br>
            <a:br>
              <a:rPr lang="en-US" sz="1100" u="sng" dirty="0"/>
            </a:br>
            <a:br>
              <a:rPr lang="en-US" sz="1100" u="sng" dirty="0"/>
            </a:br>
            <a:r>
              <a:rPr lang="en-US" sz="3200" u="sng" dirty="0"/>
              <a:t>QUESTION-14</a:t>
            </a:r>
            <a:br>
              <a:rPr lang="en-US" sz="1100" u="sng" dirty="0"/>
            </a:br>
            <a:br>
              <a:rPr lang="en-US" sz="1100" u="sng" dirty="0"/>
            </a:br>
            <a:br>
              <a:rPr lang="en-US" sz="1100" u="sng" dirty="0"/>
            </a:br>
            <a:r>
              <a:rPr lang="en-US" sz="1800" dirty="0"/>
              <a:t>Tilda van der Meer is a major character and the final antagonist in Horizon Forbidden West. As an easter egg, when the gameplay enters her mansion, one could find a X if they are observant and one of the characters in that is spotted wearing a </a:t>
            </a:r>
            <a:r>
              <a:rPr lang="en-US" sz="1800" dirty="0">
                <a:solidFill>
                  <a:schemeClr val="tx1"/>
                </a:solidFill>
              </a:rPr>
              <a:t>black dress.</a:t>
            </a:r>
            <a:r>
              <a:rPr lang="en-US" sz="1800" dirty="0">
                <a:solidFill>
                  <a:srgbClr val="FF0000"/>
                </a:solidFill>
              </a:rPr>
              <a:t> </a:t>
            </a:r>
            <a:r>
              <a:rPr lang="en-US" sz="1800" dirty="0">
                <a:solidFill>
                  <a:schemeClr val="tx1"/>
                </a:solidFill>
              </a:rPr>
              <a:t>The</a:t>
            </a:r>
            <a:r>
              <a:rPr lang="en-US" sz="1800" dirty="0"/>
              <a:t> name of X can also be derived from the fact that, this black dress wearing individual is connected to a fictional </a:t>
            </a:r>
            <a:r>
              <a:rPr lang="en-US" sz="1800" dirty="0" err="1"/>
              <a:t>organisation</a:t>
            </a:r>
            <a:r>
              <a:rPr lang="en-US" sz="1800" dirty="0"/>
              <a:t> from a 21st century primetime TV show Y. Owing to her nationality and entertainment connect, identify X and Y.</a:t>
            </a:r>
          </a:p>
        </p:txBody>
      </p:sp>
    </p:spTree>
    <p:extLst>
      <p:ext uri="{BB962C8B-B14F-4D97-AF65-F5344CB8AC3E}">
        <p14:creationId xmlns:p14="http://schemas.microsoft.com/office/powerpoint/2010/main" val="12053089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9321A-8473-5D75-4390-EC29CFB8A19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84020A3-A282-3972-E219-D5CA15676B5D}"/>
              </a:ext>
            </a:extLst>
          </p:cNvPr>
          <p:cNvPicPr>
            <a:picLocks noChangeAspect="1"/>
          </p:cNvPicPr>
          <p:nvPr/>
        </p:nvPicPr>
        <p:blipFill>
          <a:blip r:embed="rId2"/>
          <a:stretch>
            <a:fillRect/>
          </a:stretch>
        </p:blipFill>
        <p:spPr>
          <a:xfrm>
            <a:off x="2568167" y="371168"/>
            <a:ext cx="4007666" cy="4401164"/>
          </a:xfrm>
          <a:prstGeom prst="rect">
            <a:avLst/>
          </a:prstGeom>
        </p:spPr>
      </p:pic>
    </p:spTree>
    <p:extLst>
      <p:ext uri="{BB962C8B-B14F-4D97-AF65-F5344CB8AC3E}">
        <p14:creationId xmlns:p14="http://schemas.microsoft.com/office/powerpoint/2010/main" val="8298624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61DD3-2FFC-48A6-3137-674F1F9EED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CC2948-943E-A7B1-B754-75E202952411}"/>
              </a:ext>
            </a:extLst>
          </p:cNvPr>
          <p:cNvSpPr>
            <a:spLocks noGrp="1"/>
          </p:cNvSpPr>
          <p:nvPr>
            <p:ph type="ctrTitle"/>
          </p:nvPr>
        </p:nvSpPr>
        <p:spPr/>
        <p:txBody>
          <a:bodyPr/>
          <a:lstStyle/>
          <a:p>
            <a:r>
              <a:rPr lang="en-US" sz="3200" dirty="0"/>
              <a:t>                   </a:t>
            </a:r>
            <a:r>
              <a:rPr lang="en-US" sz="3200" u="sng" dirty="0"/>
              <a:t>ANSWER</a:t>
            </a:r>
            <a:br>
              <a:rPr lang="en-US" sz="3200" u="sng" dirty="0"/>
            </a:br>
            <a:br>
              <a:rPr lang="en-US" sz="3200" u="sng" dirty="0"/>
            </a:br>
            <a:r>
              <a:rPr lang="en-US" sz="3200" dirty="0"/>
              <a:t>                           </a:t>
            </a:r>
            <a:r>
              <a:rPr lang="en-US" sz="2000" dirty="0"/>
              <a:t>X- The Night’s Watch</a:t>
            </a:r>
            <a:br>
              <a:rPr lang="en-US" sz="2000" dirty="0"/>
            </a:br>
            <a:r>
              <a:rPr lang="en-US" sz="2000" dirty="0"/>
              <a:t>                                         Y- Game of Thrones</a:t>
            </a:r>
          </a:p>
        </p:txBody>
      </p:sp>
      <p:pic>
        <p:nvPicPr>
          <p:cNvPr id="14338" name="Picture 2" descr="Rembrandt's painting The Night Watch, Rijksmuseum, Amsterdam">
            <a:extLst>
              <a:ext uri="{FF2B5EF4-FFF2-40B4-BE49-F238E27FC236}">
                <a16:creationId xmlns:a16="http://schemas.microsoft.com/office/drawing/2014/main" id="{674DAC97-627A-9200-A029-BC8107BDED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678" y="1324500"/>
            <a:ext cx="3453780" cy="27019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2739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49969-688F-B59B-A9B6-FF4DAEEED9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24461A-6E16-B571-5FBD-23CC1DD8CA6F}"/>
              </a:ext>
            </a:extLst>
          </p:cNvPr>
          <p:cNvSpPr>
            <a:spLocks noGrp="1"/>
          </p:cNvSpPr>
          <p:nvPr>
            <p:ph type="ctrTitle"/>
          </p:nvPr>
        </p:nvSpPr>
        <p:spPr>
          <a:xfrm>
            <a:off x="1039975" y="343759"/>
            <a:ext cx="7064100" cy="2502569"/>
          </a:xfrm>
        </p:spPr>
        <p:txBody>
          <a:bodyPr/>
          <a:lstStyle/>
          <a:p>
            <a:r>
              <a:rPr lang="en-US" sz="2800" u="sng" dirty="0"/>
              <a:t>QUESTION-15</a:t>
            </a:r>
            <a:br>
              <a:rPr lang="en-US" sz="2800" u="sng" dirty="0"/>
            </a:br>
            <a:br>
              <a:rPr lang="en-US" sz="2800" u="sng" dirty="0"/>
            </a:br>
            <a:br>
              <a:rPr lang="en-US" sz="2800" u="sng" dirty="0"/>
            </a:br>
            <a:r>
              <a:rPr lang="en-US" sz="3200" dirty="0"/>
              <a:t>Long connect </a:t>
            </a:r>
            <a:endParaRPr lang="en-US" sz="2800" dirty="0"/>
          </a:p>
        </p:txBody>
      </p:sp>
    </p:spTree>
    <p:extLst>
      <p:ext uri="{BB962C8B-B14F-4D97-AF65-F5344CB8AC3E}">
        <p14:creationId xmlns:p14="http://schemas.microsoft.com/office/powerpoint/2010/main" val="34543459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BF70A-32B9-57D6-8E0E-B0F2FC5A47D1}"/>
            </a:ext>
          </a:extLst>
        </p:cNvPr>
        <p:cNvGrpSpPr/>
        <p:nvPr/>
      </p:nvGrpSpPr>
      <p:grpSpPr>
        <a:xfrm>
          <a:off x="0" y="0"/>
          <a:ext cx="0" cy="0"/>
          <a:chOff x="0" y="0"/>
          <a:chExt cx="0" cy="0"/>
        </a:xfrm>
      </p:grpSpPr>
      <p:pic>
        <p:nvPicPr>
          <p:cNvPr id="2050" name="Picture 2" descr="Ciarán Hinds">
            <a:extLst>
              <a:ext uri="{FF2B5EF4-FFF2-40B4-BE49-F238E27FC236}">
                <a16:creationId xmlns:a16="http://schemas.microsoft.com/office/drawing/2014/main" id="{88D7775F-D0FC-5AC9-9E2E-8FCBF0A737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0" y="428625"/>
            <a:ext cx="2857500"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91994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1B2B7-4133-38AE-B129-8A2DABCBFEF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8BB320D-2EAA-3BE7-BB07-094C8E12BA29}"/>
              </a:ext>
            </a:extLst>
          </p:cNvPr>
          <p:cNvPicPr>
            <a:picLocks noChangeAspect="1"/>
          </p:cNvPicPr>
          <p:nvPr/>
        </p:nvPicPr>
        <p:blipFill>
          <a:blip r:embed="rId2"/>
          <a:stretch>
            <a:fillRect/>
          </a:stretch>
        </p:blipFill>
        <p:spPr>
          <a:xfrm>
            <a:off x="3292397" y="409503"/>
            <a:ext cx="2559205" cy="4324493"/>
          </a:xfrm>
          <a:prstGeom prst="rect">
            <a:avLst/>
          </a:prstGeom>
        </p:spPr>
      </p:pic>
    </p:spTree>
    <p:extLst>
      <p:ext uri="{BB962C8B-B14F-4D97-AF65-F5344CB8AC3E}">
        <p14:creationId xmlns:p14="http://schemas.microsoft.com/office/powerpoint/2010/main" val="16003300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0FE93-02DC-8839-55C7-4FC648628AD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187E217-1F91-40D1-7C4F-1BED38FA4157}"/>
              </a:ext>
            </a:extLst>
          </p:cNvPr>
          <p:cNvPicPr>
            <a:picLocks noChangeAspect="1"/>
          </p:cNvPicPr>
          <p:nvPr/>
        </p:nvPicPr>
        <p:blipFill>
          <a:blip r:embed="rId2"/>
          <a:stretch>
            <a:fillRect/>
          </a:stretch>
        </p:blipFill>
        <p:spPr>
          <a:xfrm>
            <a:off x="2826408" y="536694"/>
            <a:ext cx="3491183" cy="4070111"/>
          </a:xfrm>
          <a:prstGeom prst="rect">
            <a:avLst/>
          </a:prstGeom>
        </p:spPr>
      </p:pic>
    </p:spTree>
    <p:extLst>
      <p:ext uri="{BB962C8B-B14F-4D97-AF65-F5344CB8AC3E}">
        <p14:creationId xmlns:p14="http://schemas.microsoft.com/office/powerpoint/2010/main" val="37345679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D783B-1B81-842E-0BEE-F3A9BEEE032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03D842F-62D1-47C1-C09E-4A25CF442A84}"/>
              </a:ext>
            </a:extLst>
          </p:cNvPr>
          <p:cNvPicPr>
            <a:picLocks noChangeAspect="1"/>
          </p:cNvPicPr>
          <p:nvPr/>
        </p:nvPicPr>
        <p:blipFill>
          <a:blip r:embed="rId2"/>
          <a:stretch>
            <a:fillRect/>
          </a:stretch>
        </p:blipFill>
        <p:spPr>
          <a:xfrm>
            <a:off x="3293558" y="368252"/>
            <a:ext cx="2556884" cy="4406995"/>
          </a:xfrm>
          <a:prstGeom prst="rect">
            <a:avLst/>
          </a:prstGeom>
        </p:spPr>
      </p:pic>
    </p:spTree>
    <p:extLst>
      <p:ext uri="{BB962C8B-B14F-4D97-AF65-F5344CB8AC3E}">
        <p14:creationId xmlns:p14="http://schemas.microsoft.com/office/powerpoint/2010/main" val="34806707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25F2B-8C78-D623-EE87-D30BEC090C32}"/>
            </a:ext>
          </a:extLst>
        </p:cNvPr>
        <p:cNvGrpSpPr/>
        <p:nvPr/>
      </p:nvGrpSpPr>
      <p:grpSpPr>
        <a:xfrm>
          <a:off x="0" y="0"/>
          <a:ext cx="0" cy="0"/>
          <a:chOff x="0" y="0"/>
          <a:chExt cx="0" cy="0"/>
        </a:xfrm>
      </p:grpSpPr>
      <p:pic>
        <p:nvPicPr>
          <p:cNvPr id="3076" name="Picture 4" descr="Natalia Tena">
            <a:extLst>
              <a:ext uri="{FF2B5EF4-FFF2-40B4-BE49-F238E27FC236}">
                <a16:creationId xmlns:a16="http://schemas.microsoft.com/office/drawing/2014/main" id="{3B694782-51F7-BC30-C6C7-E2330B666C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0" y="992605"/>
            <a:ext cx="2857500" cy="31582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02035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04C89-82F2-97D0-8CE4-08CBDB56B30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7ACB4EA-57A3-F2DB-3FCE-849425FA16D7}"/>
              </a:ext>
            </a:extLst>
          </p:cNvPr>
          <p:cNvPicPr>
            <a:picLocks noChangeAspect="1"/>
          </p:cNvPicPr>
          <p:nvPr/>
        </p:nvPicPr>
        <p:blipFill>
          <a:blip r:embed="rId2"/>
          <a:stretch>
            <a:fillRect/>
          </a:stretch>
        </p:blipFill>
        <p:spPr>
          <a:xfrm>
            <a:off x="3113335" y="281883"/>
            <a:ext cx="2917329" cy="4572000"/>
          </a:xfrm>
          <a:prstGeom prst="rect">
            <a:avLst/>
          </a:prstGeom>
        </p:spPr>
      </p:pic>
    </p:spTree>
    <p:extLst>
      <p:ext uri="{BB962C8B-B14F-4D97-AF65-F5344CB8AC3E}">
        <p14:creationId xmlns:p14="http://schemas.microsoft.com/office/powerpoint/2010/main" val="12879122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7F4D2-B4D3-3F2C-67BF-098D1ED39D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0F24B0-7E46-34F2-6FAE-68D4D2512A67}"/>
              </a:ext>
            </a:extLst>
          </p:cNvPr>
          <p:cNvSpPr>
            <a:spLocks noGrp="1"/>
          </p:cNvSpPr>
          <p:nvPr>
            <p:ph type="ctrTitle"/>
          </p:nvPr>
        </p:nvSpPr>
        <p:spPr>
          <a:xfrm>
            <a:off x="1039950" y="573314"/>
            <a:ext cx="7064100" cy="2111829"/>
          </a:xfrm>
        </p:spPr>
        <p:txBody>
          <a:bodyPr/>
          <a:lstStyle/>
          <a:p>
            <a:r>
              <a:rPr lang="en-US" sz="3200" u="sng" dirty="0"/>
              <a:t>ANSWER</a:t>
            </a:r>
            <a:br>
              <a:rPr lang="en-US" sz="3200" u="sng" dirty="0"/>
            </a:br>
            <a:br>
              <a:rPr lang="en-US" sz="3200" u="sng" dirty="0"/>
            </a:br>
            <a:br>
              <a:rPr lang="en-US" sz="3200" u="sng" dirty="0"/>
            </a:br>
            <a:r>
              <a:rPr lang="en-US" sz="1800" dirty="0"/>
              <a:t>All of them were cast in both Game of thrones and Harry Potter</a:t>
            </a:r>
          </a:p>
        </p:txBody>
      </p:sp>
    </p:spTree>
    <p:extLst>
      <p:ext uri="{BB962C8B-B14F-4D97-AF65-F5344CB8AC3E}">
        <p14:creationId xmlns:p14="http://schemas.microsoft.com/office/powerpoint/2010/main" val="40491049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C2969-4DC9-9A4C-C6B6-698195551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58DBA4-6BD3-BBB4-3438-8DC8C8E9866F}"/>
              </a:ext>
            </a:extLst>
          </p:cNvPr>
          <p:cNvSpPr>
            <a:spLocks noGrp="1"/>
          </p:cNvSpPr>
          <p:nvPr>
            <p:ph type="ctrTitle"/>
          </p:nvPr>
        </p:nvSpPr>
        <p:spPr/>
        <p:txBody>
          <a:bodyPr/>
          <a:lstStyle/>
          <a:p>
            <a:r>
              <a:rPr lang="en-US" dirty="0"/>
              <a:t>Thank You Everyone !</a:t>
            </a:r>
          </a:p>
        </p:txBody>
      </p:sp>
    </p:spTree>
    <p:extLst>
      <p:ext uri="{BB962C8B-B14F-4D97-AF65-F5344CB8AC3E}">
        <p14:creationId xmlns:p14="http://schemas.microsoft.com/office/powerpoint/2010/main" val="2437010404"/>
      </p:ext>
    </p:extLst>
  </p:cSld>
  <p:clrMapOvr>
    <a:masterClrMapping/>
  </p:clrMapOvr>
</p:sld>
</file>

<file path=ppt/theme/theme1.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546</TotalTime>
  <Words>1654</Words>
  <Application>Microsoft Office PowerPoint</Application>
  <PresentationFormat>On-screen Show (16:9)</PresentationFormat>
  <Paragraphs>32</Paragraphs>
  <Slides>53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53</vt:i4>
      </vt:variant>
    </vt:vector>
  </HeadingPairs>
  <TitlesOfParts>
    <vt:vector size="57" baseType="lpstr">
      <vt:lpstr>Arial</vt:lpstr>
      <vt:lpstr>Vidaloka</vt:lpstr>
      <vt:lpstr>Montserrat</vt:lpstr>
      <vt:lpstr>Minimalist Business Slides XL by Slidesgo</vt:lpstr>
      <vt:lpstr>    QUIZ ME        BABY💦</vt:lpstr>
      <vt:lpstr>PowerPoint Presentation</vt:lpstr>
      <vt:lpstr>QUESTION-1  In 2007, Two people initiated an e-commerce venture X in Bengaluru, India named after the process of exploring a catalog. Their first sale of the venture involved a book titled “Leaving Microsoft to change the World” It is the first Indian Company app to cross 50 million downloads on playstore and is one of the most preferred and visited websites in India, receiving over 13 million visitors per day Id X.</vt:lpstr>
      <vt:lpstr>PowerPoint Presentation</vt:lpstr>
      <vt:lpstr>ANSWER  Flipkart </vt:lpstr>
      <vt:lpstr>QUESTION-2  It was renamed X after a type of coffee, because the team working on it were drinking a lot of it. It was designed for interactive television. However, the technology was not ready for it at the time, so X was instead used for web development. The creator of X, was working at Sun Labs, who was working on Set-up box by cleaning C++ and ended up with X, leading the origin. Id X.  </vt:lpstr>
      <vt:lpstr>PowerPoint Presentation</vt:lpstr>
      <vt:lpstr>ANSWER  JAVA</vt:lpstr>
      <vt:lpstr>QUESTION 3  Dennis Fong, better known by his online alias Thresh, is an American businessman and retired professional player of the first-person shooter video games Quake and Doom. Known informally as the first professional gamer, Fong noticed a minor inconvenience for which he came up with a solution that is used by even the non serious gamers, while playing games like Fire Temple.  Most people need to use the right hand for the mouse for operating a gun or view, so the left hand is used for controlling the avatar's movement. Right hand is the more dexterous hand for most people, and operating the mouse needs more dexterity. This gave rise to a slight problem which was solved by Thresh. What was the inconvenience and the solution coughed up for it?</vt:lpstr>
      <vt:lpstr>PowerPoint Presentation</vt:lpstr>
      <vt:lpstr>ANSWERS   Using WASD as substitute for arrow keys for movements</vt:lpstr>
      <vt:lpstr>Identify the phone from the specifications            QUESTION-4   Release Date- September 2013 Display - 5″ IPS LCD, Full HD (1920 × 1080), ~441 ppi Operating System- Android 4.2.1 (Jelly Bean) Processor- 1.5 GHz Quad-Core MediaTek MT6589T RAM- 1 GB Internal Storage- 16 GB Expandable Storage- Up to 64 GB via microSD Rear Camera- 13 MP Autofocus with LED flash Front Camera- 5 MP Battery- 3,150 mAh Removable Li-ion Connectivity- Dual SIM (GSM/3G), Wi‑Fi, Bluetooth 4.0, GPS, micro-USB 2.0 Sensors- G-sensor, Light, Proximity, Magnetic Dimensions- 142 × 71 × 9.8 mm  Identify the phone from the specifications !  Hint- Ask for Hint LoL     </vt:lpstr>
      <vt:lpstr>PowerPoint Presentation</vt:lpstr>
      <vt:lpstr>ANSWER   NaMo phone (Narendra Modi Phone)</vt:lpstr>
      <vt:lpstr>     QUESTION-5    X and Y are notably the best friends everyone knew. Well now in recent times, X is accusing Y of him being on the Epstein list. Id X and Y. </vt:lpstr>
      <vt:lpstr>PowerPoint Presentation</vt:lpstr>
      <vt:lpstr>                               ANSWER                           X- Elon Musk                                Y- Donald Trump</vt:lpstr>
      <vt:lpstr>     QUESTION-6   La Tomatina in Spain is a festival celebrated on the last Wednesday of August where the people play with tomatoes. In 2010, 16 tons of tomatoes worth Rs 1 crore were flown in from Portugal but not on the occasion of the festival. The entire town was shut down and residents of Bunol, for their extreme cooperation with the event got a chance to celebrate Tomatina twice in the year 2010, once for Spain and once for India. What Incident X provided the opportunity for the residents of Bunol in Spain to celebrate Tomatina twice in 2010?</vt:lpstr>
      <vt:lpstr>PowerPoint Presentation</vt:lpstr>
      <vt:lpstr> ANSWER   The filming of Zindagi na milegi Dobara</vt:lpstr>
      <vt:lpstr>QUESTION-7  In 1959 a horn antenna was built as part of NASA's Project Echo. In 1964, two scientists working on calibrating this antenna to remove interference were unable to identify a source of random noise.The device's design was intended to eliminate noise from the surroundings, but a noise persisted and interference from urban areas, nuclear tests or pigeons living in the antenna were all ruled out.After they figured out what the mysterious hum was, they went on to for the discovery, which confirmed a theory X. they went on to win the Nobel prize for the discovery. Identify the theory X.</vt:lpstr>
      <vt:lpstr>PowerPoint Presentation</vt:lpstr>
      <vt:lpstr> ANSWER    X- Big Bang Theory</vt:lpstr>
      <vt:lpstr>QUESTION-8   Song X from the movie Y was banned from playing in theatres and OTT. This is because of copyright infringement filed by a popular Kerala-based band Thaikkudam Bridge. The band alleged that there are unavoidable similarities between X and their song titled Navrasam. Navrasam was a tribute to Kerala's popular art form Kathakali.Though, X is not affiliated with the song Navrasam, yet both have the same theme of culture representation and their music almost resembles each other.ID the song X.</vt:lpstr>
      <vt:lpstr>PowerPoint Presentation</vt:lpstr>
      <vt:lpstr>ANSWER   X- Varaha Roopam Y- Kantara</vt:lpstr>
      <vt:lpstr> QUESTION-9  In medieval life in Europe, People used measuring units which had very quirky name. X was the unit for measuring wine. X is derived from word ‘botte’ a medieval French and Italian word for boot. In Italy, botte is still used to refer to wine cask. Apart from X as measuring unit, word 'X wine' is used for cheap wine. Also, getting 'wine X ' means getting partner for sexual activity just because partner being excessively drunk. ID X.</vt:lpstr>
      <vt:lpstr>PowerPoint Presentation</vt:lpstr>
      <vt:lpstr>ANSWER    X- Butt</vt:lpstr>
      <vt:lpstr>QUESTION-10   Following the previous question, in medieval era, people used weight of man for measurement of weights. Names of of such units varied from place to place. Some regions used name 'man' while some used Y. Measurement of Y varied from place to place but for modern world people, it is always equal to justice in fictional City. ID Y.</vt:lpstr>
      <vt:lpstr>PowerPoint Presentation</vt:lpstr>
      <vt:lpstr>ANSWER    Y-Batman</vt:lpstr>
      <vt:lpstr>Question- 11  Here is the flat structure of a chemical molecule, synthesised in the late 1960s, and named X after the structure's look, and a famous event happening in the world and beyond. Another very apt connection is the specific number of carbon on which the -OH group is present. What is X ? Also, which numbered carbon atom is the -OH present on?</vt:lpstr>
      <vt:lpstr>PowerPoint Presentation</vt:lpstr>
      <vt:lpstr>ANSWER  Apolloane, named after resemblance to rockets and Apollo moon landings The –OH group is placed on carbon 11 to get apolloane-11-ol, referring to Apollo 11</vt:lpstr>
      <vt:lpstr>QUESTION-12   The song has given the artist their first Brit award, the equivalent of a Grammy. It has been used in a few television series, of which in the series X, the song has been used to represent the emotional struggles of a character. The artist of the song is said to be selective about giving permission for her songs, but she is a fan of the series, thus the permission. The song's original name had to be changed because it has to be played in religious countries. The artist thought that this idea of changing the title seemed ridiculous as it was a big part of the song's identity. Identify the song and series X.</vt:lpstr>
      <vt:lpstr>PowerPoint Presentation</vt:lpstr>
      <vt:lpstr>ANSWER  Song- Running up that hill (A deal with god) X- Stranger things</vt:lpstr>
      <vt:lpstr>QUESTION-13  This 24 crore ‘item’ X that played an important role during the 2010 commonwealth games, was first offered to DRDO after the end of the games, the DRDO rejected the gift stating that it had no use of it. At last, it was bought by the Goa government for the Lusofonia Games in November that saw participation of 12 Portuguese-speaking countries. It was sold at a token amount of rs.1 as the Ministry of Youth Affairs and Sports cannot charge anything from a government agency. Identify X.</vt:lpstr>
      <vt:lpstr>PowerPoint Presentation</vt:lpstr>
      <vt:lpstr> ANSWER  The Aerostat used in  opening and closing ceremony</vt:lpstr>
      <vt:lpstr>                             QUESTION-14   Tilda van der Meer is a major character and the final antagonist in Horizon Forbidden West. As an easter egg, when the gameplay enters her mansion, one could find a X if they are observant and one of the characters in that is spotted wearing a black dress. The name of X can also be derived from the fact that, this black dress wearing individual is connected to a fictional organisation from a 21st century primetime TV show Y. Owing to her nationality and entertainment connect, identify X and Y.</vt:lpstr>
      <vt:lpstr>PowerPoint Presentation</vt:lpstr>
      <vt:lpstr>                   ANSWER                             X- The Night’s Watch                                          Y- Game of Thrones</vt:lpstr>
      <vt:lpstr>QUESTION-15   Long connect </vt:lpstr>
      <vt:lpstr>PowerPoint Presentation</vt:lpstr>
      <vt:lpstr>PowerPoint Presentation</vt:lpstr>
      <vt:lpstr>PowerPoint Presentation</vt:lpstr>
      <vt:lpstr>PowerPoint Presentation</vt:lpstr>
      <vt:lpstr>PowerPoint Presentation</vt:lpstr>
      <vt:lpstr>PowerPoint Presentation</vt:lpstr>
      <vt:lpstr>ANSWER   All of them were cast in both Game of thrones and Harry Potter</vt:lpstr>
      <vt:lpstr>Thank You Everyone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Rudra Pratap Nayak</dc:creator>
  <cp:lastModifiedBy>Rudra Pratap Nayak</cp:lastModifiedBy>
  <cp:revision>20</cp:revision>
  <dcterms:modified xsi:type="dcterms:W3CDTF">2025-10-18T09:14:56Z</dcterms:modified>
</cp:coreProperties>
</file>